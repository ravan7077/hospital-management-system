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9" r:id="rId1"/>
  </p:sldMasterIdLst>
  <p:sldIdLst>
    <p:sldId id="273" r:id="rId2"/>
    <p:sldId id="256" r:id="rId3"/>
    <p:sldId id="264" r:id="rId4"/>
    <p:sldId id="258" r:id="rId5"/>
    <p:sldId id="259"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2" d="100"/>
          <a:sy n="62" d="100"/>
        </p:scale>
        <p:origin x="8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han londhe" userId="02a1e03cf0630ec3" providerId="LiveId" clId="{D23EEBC8-A140-4738-A94D-CD904C4EA0CB}"/>
    <pc:docChg chg="custSel addSld modSld">
      <pc:chgData name="rohan londhe" userId="02a1e03cf0630ec3" providerId="LiveId" clId="{D23EEBC8-A140-4738-A94D-CD904C4EA0CB}" dt="2023-03-16T05:58:09.193" v="49" actId="1076"/>
      <pc:docMkLst>
        <pc:docMk/>
      </pc:docMkLst>
      <pc:sldChg chg="delSp modSp new mod">
        <pc:chgData name="rohan londhe" userId="02a1e03cf0630ec3" providerId="LiveId" clId="{D23EEBC8-A140-4738-A94D-CD904C4EA0CB}" dt="2023-03-16T05:58:09.193" v="49" actId="1076"/>
        <pc:sldMkLst>
          <pc:docMk/>
          <pc:sldMk cId="151902632" sldId="274"/>
        </pc:sldMkLst>
        <pc:spChg chg="del">
          <ac:chgData name="rohan londhe" userId="02a1e03cf0630ec3" providerId="LiveId" clId="{D23EEBC8-A140-4738-A94D-CD904C4EA0CB}" dt="2023-03-16T05:57:21.528" v="1" actId="478"/>
          <ac:spMkLst>
            <pc:docMk/>
            <pc:sldMk cId="151902632" sldId="274"/>
            <ac:spMk id="2" creationId="{986FE84B-8B5E-F295-4ACD-74D5AEDCFCF8}"/>
          </ac:spMkLst>
        </pc:spChg>
        <pc:spChg chg="mod">
          <ac:chgData name="rohan londhe" userId="02a1e03cf0630ec3" providerId="LiveId" clId="{D23EEBC8-A140-4738-A94D-CD904C4EA0CB}" dt="2023-03-16T05:58:09.193" v="49" actId="1076"/>
          <ac:spMkLst>
            <pc:docMk/>
            <pc:sldMk cId="151902632" sldId="274"/>
            <ac:spMk id="3" creationId="{7A640D88-C7F5-2308-249D-B8816BEBF24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8A87A34-81AB-432B-8DAE-1953F412C126}" type="datetimeFigureOut">
              <a:rPr lang="en-US" smtClean="0"/>
              <a:t>3/16/2023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349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60199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2390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60054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52014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51076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45762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7696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flipV="1">
            <a:off x="8386843"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5193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92677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7723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30"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48A87A34-81AB-432B-8DAE-1953F412C126}" type="datetimeFigureOut">
              <a:rPr lang="en-US" smtClean="0"/>
              <a:pPr/>
              <a:t>3/16/2023</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6D22F896-40B5-4ADD-8801-0D06FADFA095}"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316133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27557-7B3F-E8BA-0EFF-D5088E4F7098}"/>
              </a:ext>
            </a:extLst>
          </p:cNvPr>
          <p:cNvSpPr>
            <a:spLocks noGrp="1"/>
          </p:cNvSpPr>
          <p:nvPr>
            <p:ph type="title"/>
          </p:nvPr>
        </p:nvSpPr>
        <p:spPr>
          <a:xfrm>
            <a:off x="678094" y="811660"/>
            <a:ext cx="10500189" cy="4633645"/>
          </a:xfrm>
        </p:spPr>
        <p:txBody>
          <a:bodyPr>
            <a:noAutofit/>
          </a:bodyPr>
          <a:lstStyle/>
          <a:p>
            <a:r>
              <a:rPr lang="en-US" sz="13400" dirty="0">
                <a:latin typeface="Arial Black" panose="020B0A04020102020204" pitchFamily="34" charset="0"/>
              </a:rPr>
              <a:t>welcome</a:t>
            </a:r>
            <a:endParaRPr lang="en-IN" sz="13400" dirty="0">
              <a:latin typeface="Arial Black" panose="020B0A04020102020204" pitchFamily="34" charset="0"/>
            </a:endParaRPr>
          </a:p>
        </p:txBody>
      </p:sp>
    </p:spTree>
    <p:extLst>
      <p:ext uri="{BB962C8B-B14F-4D97-AF65-F5344CB8AC3E}">
        <p14:creationId xmlns:p14="http://schemas.microsoft.com/office/powerpoint/2010/main" val="1802960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AB60E-EB88-43B9-1A6E-B18FC2EC171C}"/>
              </a:ext>
            </a:extLst>
          </p:cNvPr>
          <p:cNvSpPr>
            <a:spLocks noGrp="1"/>
          </p:cNvSpPr>
          <p:nvPr>
            <p:ph type="ctrTitle"/>
          </p:nvPr>
        </p:nvSpPr>
        <p:spPr>
          <a:xfrm>
            <a:off x="4516186" y="561207"/>
            <a:ext cx="3717876" cy="834140"/>
          </a:xfrm>
        </p:spPr>
        <p:txBody>
          <a:bodyPr>
            <a:normAutofit/>
          </a:bodyPr>
          <a:lstStyle/>
          <a:p>
            <a:r>
              <a:rPr lang="en-US" sz="4000" b="1" i="1" dirty="0">
                <a:latin typeface="Candara Light" panose="020E0502030303020204" pitchFamily="34" charset="0"/>
              </a:rPr>
              <a:t>Project name</a:t>
            </a:r>
            <a:endParaRPr lang="en-IN" sz="4000" b="1" i="1" dirty="0">
              <a:latin typeface="Candara Light" panose="020E0502030303020204" pitchFamily="34" charset="0"/>
            </a:endParaRPr>
          </a:p>
        </p:txBody>
      </p:sp>
      <p:sp>
        <p:nvSpPr>
          <p:cNvPr id="3" name="Subtitle 2">
            <a:extLst>
              <a:ext uri="{FF2B5EF4-FFF2-40B4-BE49-F238E27FC236}">
                <a16:creationId xmlns:a16="http://schemas.microsoft.com/office/drawing/2014/main" id="{222F2321-EE87-09D5-A9C6-65CA54AFCB4F}"/>
              </a:ext>
            </a:extLst>
          </p:cNvPr>
          <p:cNvSpPr>
            <a:spLocks noGrp="1"/>
          </p:cNvSpPr>
          <p:nvPr>
            <p:ph type="subTitle" idx="1"/>
          </p:nvPr>
        </p:nvSpPr>
        <p:spPr>
          <a:xfrm>
            <a:off x="1200978" y="2445086"/>
            <a:ext cx="10348292" cy="2099478"/>
          </a:xfrm>
        </p:spPr>
        <p:txBody>
          <a:bodyPr>
            <a:noAutofit/>
          </a:bodyPr>
          <a:lstStyle/>
          <a:p>
            <a:pPr>
              <a:lnSpc>
                <a:spcPct val="150000"/>
              </a:lnSpc>
            </a:pPr>
            <a:r>
              <a:rPr lang="en-US" sz="6600" dirty="0">
                <a:latin typeface="Lucida Sans" panose="020B0602030504020204" pitchFamily="34" charset="0"/>
                <a:cs typeface="Calibri" panose="020F0502020204030204" pitchFamily="34" charset="0"/>
              </a:rPr>
              <a:t>HOSPITAL MANAGEMENT</a:t>
            </a:r>
          </a:p>
          <a:p>
            <a:pPr>
              <a:lnSpc>
                <a:spcPct val="150000"/>
              </a:lnSpc>
            </a:pPr>
            <a:r>
              <a:rPr lang="en-US" sz="6600" dirty="0">
                <a:latin typeface="Calibri" panose="020F0502020204030204" pitchFamily="34" charset="0"/>
                <a:cs typeface="Calibri" panose="020F0502020204030204" pitchFamily="34" charset="0"/>
              </a:rPr>
              <a:t>                   SYSTEM</a:t>
            </a:r>
            <a:endParaRPr lang="en-IN" sz="6600" dirty="0">
              <a:latin typeface="Calibri" panose="020F0502020204030204" pitchFamily="34" charset="0"/>
              <a:cs typeface="Calibri" panose="020F0502020204030204" pitchFamily="34" charset="0"/>
            </a:endParaRPr>
          </a:p>
          <a:p>
            <a:pPr>
              <a:lnSpc>
                <a:spcPct val="150000"/>
              </a:lnSpc>
            </a:pPr>
            <a:endParaRPr lang="en-IN" sz="66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F3A8022-326A-2789-A7E8-1C70CBB1901A}"/>
              </a:ext>
            </a:extLst>
          </p:cNvPr>
          <p:cNvSpPr txBox="1"/>
          <p:nvPr/>
        </p:nvSpPr>
        <p:spPr>
          <a:xfrm>
            <a:off x="3877646" y="4544564"/>
            <a:ext cx="5571424" cy="707886"/>
          </a:xfrm>
          <a:prstGeom prst="rect">
            <a:avLst/>
          </a:prstGeom>
          <a:noFill/>
        </p:spPr>
        <p:txBody>
          <a:bodyPr wrap="square" rtlCol="0">
            <a:spAutoFit/>
          </a:bodyPr>
          <a:lstStyle/>
          <a:p>
            <a:r>
              <a:rPr lang="en-US" sz="4000" b="1" dirty="0">
                <a:solidFill>
                  <a:schemeClr val="accent3">
                    <a:lumMod val="50000"/>
                  </a:schemeClr>
                </a:solidFill>
                <a:latin typeface="Aparajita" panose="02020603050405020304" pitchFamily="18" charset="0"/>
                <a:cs typeface="Aparajita" panose="02020603050405020304" pitchFamily="18" charset="0"/>
              </a:rPr>
              <a:t>Project Partners Name</a:t>
            </a:r>
            <a:endParaRPr lang="en-IN" sz="4000" b="1" dirty="0">
              <a:solidFill>
                <a:schemeClr val="accent3">
                  <a:lumMod val="50000"/>
                </a:schemeClr>
              </a:solidFill>
              <a:latin typeface="Aparajita" panose="02020603050405020304" pitchFamily="18" charset="0"/>
              <a:cs typeface="Aparajita" panose="02020603050405020304" pitchFamily="18" charset="0"/>
            </a:endParaRPr>
          </a:p>
        </p:txBody>
      </p:sp>
      <p:sp>
        <p:nvSpPr>
          <p:cNvPr id="5" name="TextBox 4">
            <a:extLst>
              <a:ext uri="{FF2B5EF4-FFF2-40B4-BE49-F238E27FC236}">
                <a16:creationId xmlns:a16="http://schemas.microsoft.com/office/drawing/2014/main" id="{92852FA9-E6CB-1F09-84B4-571155C06718}"/>
              </a:ext>
            </a:extLst>
          </p:cNvPr>
          <p:cNvSpPr txBox="1"/>
          <p:nvPr/>
        </p:nvSpPr>
        <p:spPr>
          <a:xfrm>
            <a:off x="2894568" y="4978604"/>
            <a:ext cx="6402863" cy="2472728"/>
          </a:xfrm>
          <a:prstGeom prst="rect">
            <a:avLst/>
          </a:prstGeom>
          <a:noFill/>
        </p:spPr>
        <p:txBody>
          <a:bodyPr wrap="square" rtlCol="0">
            <a:spAutoFit/>
          </a:bodyPr>
          <a:lstStyle/>
          <a:p>
            <a:pPr>
              <a:lnSpc>
                <a:spcPct val="150000"/>
              </a:lnSpc>
            </a:pPr>
            <a:r>
              <a:rPr lang="en-US" sz="3600" dirty="0">
                <a:latin typeface="Bahnschrift" panose="020B0502040204020203" pitchFamily="34" charset="0"/>
              </a:rPr>
              <a:t>Amruta Suresh Borate(2658)</a:t>
            </a:r>
          </a:p>
          <a:p>
            <a:pPr>
              <a:lnSpc>
                <a:spcPct val="150000"/>
              </a:lnSpc>
            </a:pPr>
            <a:r>
              <a:rPr lang="en-US" sz="3600" dirty="0">
                <a:latin typeface="Bahnschrift" panose="020B0502040204020203" pitchFamily="34" charset="0"/>
              </a:rPr>
              <a:t>Rohan Vaibhav Londhe (2683)</a:t>
            </a:r>
          </a:p>
          <a:p>
            <a:pPr>
              <a:lnSpc>
                <a:spcPct val="150000"/>
              </a:lnSpc>
            </a:pPr>
            <a:endParaRPr lang="en-IN" sz="3600" dirty="0">
              <a:latin typeface="Bahnschrift" panose="020B0502040204020203" pitchFamily="34" charset="0"/>
            </a:endParaRPr>
          </a:p>
        </p:txBody>
      </p:sp>
    </p:spTree>
    <p:extLst>
      <p:ext uri="{BB962C8B-B14F-4D97-AF65-F5344CB8AC3E}">
        <p14:creationId xmlns:p14="http://schemas.microsoft.com/office/powerpoint/2010/main" val="2929116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8F5FC-CF76-D42F-5760-BDDFCD1CC508}"/>
              </a:ext>
            </a:extLst>
          </p:cNvPr>
          <p:cNvSpPr>
            <a:spLocks noGrp="1"/>
          </p:cNvSpPr>
          <p:nvPr>
            <p:ph type="title"/>
          </p:nvPr>
        </p:nvSpPr>
        <p:spPr/>
        <p:txBody>
          <a:bodyPr>
            <a:normAutofit/>
          </a:bodyPr>
          <a:lstStyle/>
          <a:p>
            <a:r>
              <a:rPr lang="en-US" sz="6000" dirty="0">
                <a:latin typeface="+mn-lt"/>
              </a:rPr>
              <a:t>INTRODUCTION</a:t>
            </a:r>
            <a:r>
              <a:rPr lang="en-US" sz="6000" dirty="0"/>
              <a:t> </a:t>
            </a:r>
            <a:endParaRPr lang="en-IN" sz="6000" dirty="0"/>
          </a:p>
        </p:txBody>
      </p:sp>
      <p:sp>
        <p:nvSpPr>
          <p:cNvPr id="4" name="TextBox 3">
            <a:extLst>
              <a:ext uri="{FF2B5EF4-FFF2-40B4-BE49-F238E27FC236}">
                <a16:creationId xmlns:a16="http://schemas.microsoft.com/office/drawing/2014/main" id="{EF59FC4F-A379-94E7-F0F6-7A86DC0F8C79}"/>
              </a:ext>
            </a:extLst>
          </p:cNvPr>
          <p:cNvSpPr txBox="1"/>
          <p:nvPr/>
        </p:nvSpPr>
        <p:spPr>
          <a:xfrm>
            <a:off x="1024129" y="1839074"/>
            <a:ext cx="11167872" cy="4562467"/>
          </a:xfrm>
          <a:prstGeom prst="rect">
            <a:avLst/>
          </a:prstGeom>
          <a:noFill/>
        </p:spPr>
        <p:txBody>
          <a:bodyPr wrap="square" rtlCol="0">
            <a:spAutoFit/>
          </a:bodyPr>
          <a:lstStyle/>
          <a:p>
            <a:pPr>
              <a:lnSpc>
                <a:spcPct val="150000"/>
              </a:lnSpc>
            </a:pPr>
            <a:r>
              <a:rPr lang="en-US"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purpose of the project entitled as </a:t>
            </a:r>
            <a:r>
              <a:rPr lang="en-US" sz="2800" b="1" dirty="0">
                <a:solidFill>
                  <a:srgbClr val="0070C0"/>
                </a:solidFill>
                <a:effectLst/>
                <a:latin typeface="Calibri" panose="020F0502020204030204" pitchFamily="34" charset="0"/>
                <a:ea typeface="Times New Roman" panose="02020603050405020304" pitchFamily="18" charset="0"/>
                <a:cs typeface="Calibri" panose="020F0502020204030204" pitchFamily="34" charset="0"/>
              </a:rPr>
              <a:t>“HOSPITAL MANAGEMENT SYSTEM” </a:t>
            </a:r>
            <a:r>
              <a:rPr lang="en-US"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is to computerize the Front Office Management of Hospital to develop software which is user friendly, simple, fast, and cost – effective. It deals with the collection of patient’s information, diagnosis details, etc. Traditionally, it was done manually.</a:t>
            </a:r>
            <a:r>
              <a:rPr lang="en-US" sz="2800" dirty="0">
                <a:effectLst/>
                <a:latin typeface="Calibri" panose="020F0502020204030204" pitchFamily="34" charset="0"/>
                <a:ea typeface="Calibri" panose="020F0502020204030204" pitchFamily="34" charset="0"/>
                <a:cs typeface="Calibri" panose="020F0502020204030204" pitchFamily="34" charset="0"/>
              </a:rPr>
              <a:t> </a:t>
            </a:r>
            <a:r>
              <a:rPr lang="en-US"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main function is to register and store patient details and doctor details and retrieve these details as and we required and also to  manipulate these details meaningfully</a:t>
            </a:r>
            <a:r>
              <a:rPr lang="en-US" sz="2800" dirty="0">
                <a:solidFill>
                  <a:srgbClr val="000000"/>
                </a:solidFill>
                <a:effectLst/>
                <a:latin typeface="Mangal" panose="02040503050203030202" pitchFamily="18" charset="0"/>
                <a:ea typeface="Times New Roman" panose="02020603050405020304" pitchFamily="18" charset="0"/>
              </a:rPr>
              <a:t>.</a:t>
            </a:r>
            <a:endParaRPr lang="en-IN" sz="2800" dirty="0"/>
          </a:p>
        </p:txBody>
      </p:sp>
    </p:spTree>
    <p:extLst>
      <p:ext uri="{BB962C8B-B14F-4D97-AF65-F5344CB8AC3E}">
        <p14:creationId xmlns:p14="http://schemas.microsoft.com/office/powerpoint/2010/main" val="199323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0C677-9377-5D60-456F-4D2A748DD507}"/>
              </a:ext>
            </a:extLst>
          </p:cNvPr>
          <p:cNvSpPr>
            <a:spLocks noGrp="1"/>
          </p:cNvSpPr>
          <p:nvPr>
            <p:ph type="title"/>
          </p:nvPr>
        </p:nvSpPr>
        <p:spPr>
          <a:xfrm>
            <a:off x="4927600" y="156988"/>
            <a:ext cx="2501900" cy="857187"/>
          </a:xfrm>
        </p:spPr>
        <p:txBody>
          <a:bodyPr>
            <a:normAutofit fontScale="90000"/>
          </a:bodyPr>
          <a:lstStyle/>
          <a:p>
            <a:pPr>
              <a:lnSpc>
                <a:spcPct val="106000"/>
              </a:lnSpc>
              <a:spcBef>
                <a:spcPts val="0"/>
              </a:spcBef>
            </a:pPr>
            <a:br>
              <a:rPr lang="en-IN" sz="1800" dirty="0">
                <a:effectLst/>
                <a:latin typeface="Calibri" panose="020F0502020204030204" pitchFamily="34" charset="0"/>
                <a:ea typeface="Calibri" panose="020F0502020204030204" pitchFamily="34" charset="0"/>
                <a:cs typeface="SimSun" panose="02010600030101010101" pitchFamily="2" charset="-122"/>
              </a:rPr>
            </a:br>
            <a:r>
              <a:rPr lang="en-US" sz="1800" dirty="0">
                <a:effectLst/>
                <a:latin typeface="Mangal" panose="02040503050203030202" pitchFamily="18" charset="0"/>
                <a:ea typeface="Calibri" panose="020F0502020204030204" pitchFamily="34" charset="0"/>
                <a:cs typeface="SimSun" panose="02010600030101010101" pitchFamily="2" charset="-122"/>
              </a:rPr>
              <a:t> </a:t>
            </a:r>
            <a:br>
              <a:rPr lang="en-IN" sz="1800" dirty="0">
                <a:effectLst/>
                <a:latin typeface="Calibri" panose="020F0502020204030204" pitchFamily="34" charset="0"/>
                <a:ea typeface="Calibri" panose="020F0502020204030204" pitchFamily="34" charset="0"/>
                <a:cs typeface="SimSun" panose="02010600030101010101" pitchFamily="2" charset="-122"/>
              </a:rPr>
            </a:br>
            <a:br>
              <a:rPr lang="en-IN" sz="2200" dirty="0">
                <a:effectLst/>
                <a:latin typeface="Calibri" panose="020F0502020204030204" pitchFamily="34" charset="0"/>
                <a:ea typeface="Calibri" panose="020F0502020204030204" pitchFamily="34" charset="0"/>
                <a:cs typeface="SimSun" panose="02010600030101010101" pitchFamily="2" charset="-122"/>
              </a:rPr>
            </a:br>
            <a:r>
              <a:rPr lang="en-US" sz="6000" b="1" dirty="0">
                <a:solidFill>
                  <a:srgbClr val="000000"/>
                </a:solidFill>
                <a:effectLst/>
                <a:latin typeface="+mn-lt"/>
                <a:ea typeface="Calibri" panose="020F0502020204030204" pitchFamily="34" charset="0"/>
                <a:cs typeface="Calibri" panose="020F0502020204030204" pitchFamily="34" charset="0"/>
              </a:rPr>
              <a:t>scope</a:t>
            </a:r>
            <a:br>
              <a:rPr lang="en-IN" sz="1800" dirty="0">
                <a:effectLst/>
                <a:latin typeface="Calibri" panose="020F0502020204030204" pitchFamily="34" charset="0"/>
                <a:ea typeface="Calibri" panose="020F0502020204030204" pitchFamily="34" charset="0"/>
                <a:cs typeface="SimSun" panose="02010600030101010101" pitchFamily="2" charset="-122"/>
              </a:rPr>
            </a:br>
            <a:br>
              <a:rPr lang="en-IN" sz="3100" dirty="0">
                <a:effectLst/>
                <a:latin typeface="Calibri" panose="020F0502020204030204" pitchFamily="34" charset="0"/>
                <a:ea typeface="Calibri" panose="020F0502020204030204" pitchFamily="34" charset="0"/>
                <a:cs typeface="SimSun" panose="02010600030101010101" pitchFamily="2" charset="-122"/>
              </a:rPr>
            </a:br>
            <a:endParaRPr lang="en-IN" dirty="0"/>
          </a:p>
        </p:txBody>
      </p:sp>
      <p:sp>
        <p:nvSpPr>
          <p:cNvPr id="4" name="TextBox 3">
            <a:extLst>
              <a:ext uri="{FF2B5EF4-FFF2-40B4-BE49-F238E27FC236}">
                <a16:creationId xmlns:a16="http://schemas.microsoft.com/office/drawing/2014/main" id="{48A15E4C-A783-4681-B24C-743BBACD8E7A}"/>
              </a:ext>
            </a:extLst>
          </p:cNvPr>
          <p:cNvSpPr txBox="1"/>
          <p:nvPr/>
        </p:nvSpPr>
        <p:spPr>
          <a:xfrm>
            <a:off x="120650" y="3490401"/>
            <a:ext cx="12071350" cy="1138773"/>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effectLst/>
                <a:latin typeface="Calibri" panose="020F0502020204030204" pitchFamily="34" charset="0"/>
                <a:ea typeface="Malgun Gothic" panose="020B0503020000020004" pitchFamily="34" charset="-127"/>
                <a:cs typeface="Calibri" panose="020F0502020204030204" pitchFamily="34" charset="0"/>
              </a:rPr>
              <a:t>Generates</a:t>
            </a:r>
            <a:r>
              <a:rPr lang="en-US" sz="3200" dirty="0">
                <a:effectLst/>
                <a:latin typeface="Calibri" panose="020F0502020204030204" pitchFamily="34" charset="0"/>
                <a:ea typeface="Malgun Gothic" panose="020B0503020000020004" pitchFamily="34" charset="-127"/>
                <a:cs typeface="Calibri" panose="020F0502020204030204" pitchFamily="34" charset="0"/>
              </a:rPr>
              <a:t> the important report on day wise or month wise</a:t>
            </a:r>
            <a:r>
              <a:rPr lang="en-US" sz="2400" dirty="0">
                <a:effectLst/>
                <a:latin typeface="Calibri" panose="020F0502020204030204" pitchFamily="34" charset="0"/>
                <a:ea typeface="Calibri" panose="020F0502020204030204" pitchFamily="34" charset="0"/>
                <a:cs typeface="Calibri" panose="020F0502020204030204" pitchFamily="34" charset="0"/>
              </a:rPr>
              <a:t>.</a:t>
            </a:r>
            <a:br>
              <a:rPr lang="en-IN" sz="1800" dirty="0">
                <a:effectLst/>
                <a:latin typeface="Calibri" panose="020F0502020204030204" pitchFamily="34" charset="0"/>
                <a:ea typeface="Calibri" panose="020F0502020204030204" pitchFamily="34" charset="0"/>
                <a:cs typeface="Calibri" panose="020F0502020204030204" pitchFamily="34" charset="0"/>
              </a:rPr>
            </a:br>
            <a:br>
              <a:rPr lang="en-IN" sz="1800" dirty="0">
                <a:effectLst/>
                <a:latin typeface="Calibri" panose="020F0502020204030204" pitchFamily="34" charset="0"/>
                <a:ea typeface="Calibri" panose="020F0502020204030204" pitchFamily="34" charset="0"/>
                <a:cs typeface="SimSun" panose="02010600030101010101" pitchFamily="2" charset="-122"/>
              </a:rPr>
            </a:br>
            <a:endParaRPr lang="en-IN" dirty="0"/>
          </a:p>
        </p:txBody>
      </p:sp>
      <p:sp>
        <p:nvSpPr>
          <p:cNvPr id="5" name="TextBox 4">
            <a:extLst>
              <a:ext uri="{FF2B5EF4-FFF2-40B4-BE49-F238E27FC236}">
                <a16:creationId xmlns:a16="http://schemas.microsoft.com/office/drawing/2014/main" id="{CC07689D-2AA4-EEDE-EBAC-267EED8B6AC5}"/>
              </a:ext>
            </a:extLst>
          </p:cNvPr>
          <p:cNvSpPr txBox="1"/>
          <p:nvPr/>
        </p:nvSpPr>
        <p:spPr>
          <a:xfrm>
            <a:off x="120650" y="818157"/>
            <a:ext cx="12211050" cy="2610843"/>
          </a:xfrm>
          <a:prstGeom prst="rect">
            <a:avLst/>
          </a:prstGeom>
          <a:noFill/>
        </p:spPr>
        <p:txBody>
          <a:bodyPr wrap="square" rtlCol="0">
            <a:spAutoFit/>
          </a:bodyPr>
          <a:lstStyle/>
          <a:p>
            <a:pPr>
              <a:lnSpc>
                <a:spcPct val="150000"/>
              </a:lnSpc>
            </a:pPr>
            <a:r>
              <a:rPr lang="en-US" sz="2800" dirty="0">
                <a:latin typeface="Malgun Gothic" panose="020B0503020000020004" pitchFamily="34" charset="-127"/>
                <a:ea typeface="Malgun Gothic" panose="020B0503020000020004" pitchFamily="34" charset="-127"/>
                <a:cs typeface="Calibri" panose="020F0502020204030204" pitchFamily="34" charset="0"/>
              </a:rPr>
              <a:t>P</a:t>
            </a:r>
            <a:r>
              <a:rPr lang="en-US" sz="2800" dirty="0">
                <a:effectLst/>
                <a:latin typeface="Malgun Gothic" panose="020B0503020000020004" pitchFamily="34" charset="-127"/>
                <a:ea typeface="Malgun Gothic" panose="020B0503020000020004" pitchFamily="34" charset="-127"/>
                <a:cs typeface="Calibri" panose="020F0502020204030204" pitchFamily="34" charset="0"/>
              </a:rPr>
              <a:t>roject has been developed in keeping in view of requirement of the Hospital. As far as my projects cover all important details of information of Hospital, therefore in future it will help to gather such information about the information of Hospital. The main scope </a:t>
            </a:r>
            <a:r>
              <a:rPr lang="en-US" sz="2800" b="1" dirty="0">
                <a:effectLst/>
                <a:latin typeface="Malgun Gothic" panose="020B0503020000020004" pitchFamily="34" charset="-127"/>
                <a:ea typeface="Malgun Gothic" panose="020B0503020000020004" pitchFamily="34" charset="-127"/>
                <a:cs typeface="Calibri" panose="020F0502020204030204" pitchFamily="34" charset="0"/>
              </a:rPr>
              <a:t>of </a:t>
            </a:r>
            <a:endParaRPr lang="en-IN" sz="2800" b="1" dirty="0">
              <a:latin typeface="Malgun Gothic" panose="020B0503020000020004" pitchFamily="34" charset="-127"/>
              <a:ea typeface="Malgun Gothic" panose="020B0503020000020004" pitchFamily="34" charset="-127"/>
              <a:cs typeface="Calibri" panose="020F0502020204030204" pitchFamily="34" charset="0"/>
            </a:endParaRPr>
          </a:p>
        </p:txBody>
      </p:sp>
      <p:sp>
        <p:nvSpPr>
          <p:cNvPr id="6" name="TextBox 5">
            <a:extLst>
              <a:ext uri="{FF2B5EF4-FFF2-40B4-BE49-F238E27FC236}">
                <a16:creationId xmlns:a16="http://schemas.microsoft.com/office/drawing/2014/main" id="{83684EA6-AAC0-03BE-4E2A-F28F3491F2D7}"/>
              </a:ext>
            </a:extLst>
          </p:cNvPr>
          <p:cNvSpPr txBox="1"/>
          <p:nvPr/>
        </p:nvSpPr>
        <p:spPr>
          <a:xfrm>
            <a:off x="120650" y="4230876"/>
            <a:ext cx="10680700" cy="800219"/>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effectLst/>
                <a:latin typeface="Calibri" panose="020F0502020204030204" pitchFamily="34" charset="0"/>
                <a:ea typeface="Calibri" panose="020F0502020204030204" pitchFamily="34" charset="0"/>
                <a:cs typeface="Calibri" panose="020F0502020204030204" pitchFamily="34" charset="0"/>
              </a:rPr>
              <a:t>Storing large amount of data for future point of view</a:t>
            </a:r>
            <a:r>
              <a:rPr lang="en-US" dirty="0">
                <a:effectLst/>
                <a:latin typeface="Mangal" panose="02040503050203030202" pitchFamily="18" charset="0"/>
                <a:ea typeface="Calibri" panose="020F0502020204030204" pitchFamily="34" charset="0"/>
                <a:cs typeface="SimSun" panose="02010600030101010101" pitchFamily="2" charset="-122"/>
              </a:rPr>
              <a:t>.</a:t>
            </a:r>
            <a:br>
              <a:rPr lang="en-IN" dirty="0">
                <a:effectLst/>
                <a:latin typeface="Calibri" panose="020F0502020204030204" pitchFamily="34" charset="0"/>
                <a:ea typeface="Calibri" panose="020F0502020204030204" pitchFamily="34" charset="0"/>
                <a:cs typeface="SimSun" panose="02010600030101010101" pitchFamily="2" charset="-122"/>
              </a:rPr>
            </a:br>
            <a:endParaRPr lang="en-IN" dirty="0"/>
          </a:p>
        </p:txBody>
      </p:sp>
      <p:sp>
        <p:nvSpPr>
          <p:cNvPr id="7" name="TextBox 6">
            <a:extLst>
              <a:ext uri="{FF2B5EF4-FFF2-40B4-BE49-F238E27FC236}">
                <a16:creationId xmlns:a16="http://schemas.microsoft.com/office/drawing/2014/main" id="{163928E3-AB88-98F6-5219-B15364781139}"/>
              </a:ext>
            </a:extLst>
          </p:cNvPr>
          <p:cNvSpPr txBox="1"/>
          <p:nvPr/>
        </p:nvSpPr>
        <p:spPr>
          <a:xfrm>
            <a:off x="120650" y="4923373"/>
            <a:ext cx="10096500" cy="892552"/>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effectLst/>
                <a:latin typeface="Calibri" panose="020F0502020204030204" pitchFamily="34" charset="0"/>
                <a:ea typeface="Calibri" panose="020F0502020204030204" pitchFamily="34" charset="0"/>
                <a:cs typeface="Calibri" panose="020F0502020204030204" pitchFamily="34" charset="0"/>
              </a:rPr>
              <a:t>Keeping records of admission of patient.</a:t>
            </a:r>
            <a:br>
              <a:rPr lang="en-IN" sz="2000" dirty="0">
                <a:effectLst/>
                <a:latin typeface="Calibri" panose="020F0502020204030204" pitchFamily="34" charset="0"/>
                <a:ea typeface="Calibri" panose="020F0502020204030204" pitchFamily="34" charset="0"/>
                <a:cs typeface="Calibri" panose="020F0502020204030204" pitchFamily="34" charset="0"/>
              </a:rPr>
            </a:br>
            <a:endParaRPr lang="en-IN" sz="2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DA22C3F-98EA-7DF9-00BD-EF9ACBD2B1BE}"/>
              </a:ext>
            </a:extLst>
          </p:cNvPr>
          <p:cNvSpPr txBox="1"/>
          <p:nvPr/>
        </p:nvSpPr>
        <p:spPr>
          <a:xfrm>
            <a:off x="120650" y="5675292"/>
            <a:ext cx="10261600" cy="1292662"/>
          </a:xfrm>
          <a:prstGeom prst="rect">
            <a:avLst/>
          </a:prstGeom>
          <a:noFill/>
        </p:spPr>
        <p:txBody>
          <a:bodyPr wrap="square" rtlCol="0">
            <a:spAutoFit/>
          </a:bodyPr>
          <a:lstStyle/>
          <a:p>
            <a:pPr marL="342900" indent="-342900">
              <a:buFont typeface="Wingdings" panose="05000000000000000000" pitchFamily="2" charset="2"/>
              <a:buChar char="Ø"/>
            </a:pPr>
            <a:r>
              <a:rPr lang="en-US" sz="2800" dirty="0">
                <a:effectLst/>
                <a:latin typeface="Calibri" panose="020F0502020204030204" pitchFamily="34" charset="0"/>
                <a:ea typeface="Calibri" panose="020F0502020204030204" pitchFamily="34" charset="0"/>
                <a:cs typeface="Calibri" panose="020F0502020204030204" pitchFamily="34" charset="0"/>
              </a:rPr>
              <a:t>Scheduling the appointment of Patient with Doctor (Consultant) to make it convenient for both</a:t>
            </a:r>
            <a:r>
              <a:rPr lang="en-US" sz="3200" dirty="0">
                <a:effectLst/>
                <a:latin typeface="Calibri" panose="020F0502020204030204" pitchFamily="34" charset="0"/>
                <a:ea typeface="Calibri" panose="020F0502020204030204" pitchFamily="34" charset="0"/>
                <a:cs typeface="Calibri" panose="020F0502020204030204" pitchFamily="34" charset="0"/>
              </a:rPr>
              <a:t>.</a:t>
            </a:r>
            <a:br>
              <a:rPr lang="en-IN" sz="2400" dirty="0">
                <a:effectLst/>
                <a:latin typeface="Calibri" panose="020F0502020204030204" pitchFamily="34" charset="0"/>
                <a:ea typeface="Calibri" panose="020F0502020204030204" pitchFamily="34" charset="0"/>
                <a:cs typeface="SimSun" panose="02010600030101010101" pitchFamily="2" charset="-122"/>
              </a:rPr>
            </a:br>
            <a:endParaRPr lang="en-IN" dirty="0"/>
          </a:p>
        </p:txBody>
      </p:sp>
    </p:spTree>
    <p:extLst>
      <p:ext uri="{BB962C8B-B14F-4D97-AF65-F5344CB8AC3E}">
        <p14:creationId xmlns:p14="http://schemas.microsoft.com/office/powerpoint/2010/main" val="2045136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6515F-78AA-4006-2213-768848F521BE}"/>
              </a:ext>
            </a:extLst>
          </p:cNvPr>
          <p:cNvSpPr>
            <a:spLocks noGrp="1"/>
          </p:cNvSpPr>
          <p:nvPr>
            <p:ph type="title"/>
          </p:nvPr>
        </p:nvSpPr>
        <p:spPr>
          <a:xfrm>
            <a:off x="330200" y="1714500"/>
            <a:ext cx="11861800" cy="5372100"/>
          </a:xfrm>
        </p:spPr>
        <p:txBody>
          <a:bodyPr>
            <a:normAutofit fontScale="90000"/>
          </a:bodyPr>
          <a:lstStyle/>
          <a:p>
            <a:pPr>
              <a:lnSpc>
                <a:spcPct val="150000"/>
              </a:lnSpc>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Hospital currently use a manual system for the management and maintenance of critical information. The current system requires numerous paper forms, with data stores spread throughout the hospital management infrastructure. Often information (on forms) is in complete, or does not follow management standards. Forms are often lost in transit between departments requiring a comprehensive auditing process to ensure that no vital information is lost. Multiple copies of the same information exist in the hospital and may lead to inconsistencies in data in various data stores</a:t>
            </a:r>
            <a:br>
              <a:rPr lang="en-IN" sz="1800" dirty="0">
                <a:effectLst/>
                <a:latin typeface="Calibri" panose="020F0502020204030204" pitchFamily="34" charset="0"/>
                <a:ea typeface="Calibri" panose="020F0502020204030204" pitchFamily="34" charset="0"/>
                <a:cs typeface="SimSun" panose="02010600030101010101" pitchFamily="2" charset="-122"/>
              </a:rPr>
            </a:br>
            <a:endParaRPr lang="en-IN" sz="4400" dirty="0"/>
          </a:p>
        </p:txBody>
      </p:sp>
      <p:sp>
        <p:nvSpPr>
          <p:cNvPr id="4" name="TextBox 3">
            <a:extLst>
              <a:ext uri="{FF2B5EF4-FFF2-40B4-BE49-F238E27FC236}">
                <a16:creationId xmlns:a16="http://schemas.microsoft.com/office/drawing/2014/main" id="{E28B168F-3D95-5668-B308-119EA8CC572C}"/>
              </a:ext>
            </a:extLst>
          </p:cNvPr>
          <p:cNvSpPr txBox="1"/>
          <p:nvPr/>
        </p:nvSpPr>
        <p:spPr>
          <a:xfrm>
            <a:off x="3244850" y="698837"/>
            <a:ext cx="5702300" cy="1015663"/>
          </a:xfrm>
          <a:prstGeom prst="rect">
            <a:avLst/>
          </a:prstGeom>
          <a:noFill/>
        </p:spPr>
        <p:txBody>
          <a:bodyPr wrap="square" rtlCol="0">
            <a:spAutoFit/>
          </a:bodyPr>
          <a:lstStyle/>
          <a:p>
            <a:r>
              <a:rPr lang="en-US" sz="6000" b="1" dirty="0">
                <a:solidFill>
                  <a:srgbClr val="000000"/>
                </a:solidFill>
                <a:effectLst/>
                <a:ea typeface="Times New Roman" panose="02020603050405020304" pitchFamily="18" charset="0"/>
              </a:rPr>
              <a:t>Existing System</a:t>
            </a:r>
            <a:endParaRPr lang="en-IN" sz="6000" dirty="0"/>
          </a:p>
        </p:txBody>
      </p:sp>
    </p:spTree>
    <p:extLst>
      <p:ext uri="{BB962C8B-B14F-4D97-AF65-F5344CB8AC3E}">
        <p14:creationId xmlns:p14="http://schemas.microsoft.com/office/powerpoint/2010/main" val="3679037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6AC36-572F-B0AA-85D4-C3ABD7019807}"/>
              </a:ext>
            </a:extLst>
          </p:cNvPr>
          <p:cNvSpPr>
            <a:spLocks noGrp="1"/>
          </p:cNvSpPr>
          <p:nvPr>
            <p:ph type="title"/>
          </p:nvPr>
        </p:nvSpPr>
        <p:spPr>
          <a:xfrm>
            <a:off x="1235964" y="1968500"/>
            <a:ext cx="9720072" cy="4470400"/>
          </a:xfrm>
        </p:spPr>
        <p:txBody>
          <a:bodyPr>
            <a:normAutofit fontScale="90000"/>
          </a:bodyPr>
          <a:lstStyle/>
          <a:p>
            <a:pPr marL="0" marR="0">
              <a:lnSpc>
                <a:spcPct val="150000"/>
              </a:lnSpc>
              <a:spcBef>
                <a:spcPts val="0"/>
              </a:spcBef>
              <a:spcAft>
                <a:spcPts val="800"/>
              </a:spcAft>
            </a:pPr>
            <a:r>
              <a:rPr lang="en-US" sz="2400" dirty="0">
                <a:solidFill>
                  <a:srgbClr val="000000"/>
                </a:solidFill>
                <a:effectLst/>
                <a:latin typeface="Mangal" panose="02040503050203030202" pitchFamily="18" charset="0"/>
                <a:ea typeface="Times New Roman" panose="02020603050405020304" pitchFamily="18" charset="0"/>
              </a:rPr>
              <a:t>The Hospital Management System is designed for Any Hospital to replace their existing manual, paper based system. The new system. The new system is to control the following information; patient information, room availability, staff and operating room schedules, and patient invoices. </a:t>
            </a:r>
            <a:r>
              <a:rPr lang="en-US" sz="2400" dirty="0">
                <a:solidFill>
                  <a:srgbClr val="000000"/>
                </a:solidFill>
                <a:effectLst/>
                <a:latin typeface="Mangal" panose="02040503050203030202" pitchFamily="18" charset="0"/>
                <a:ea typeface="Times New Roman" panose="02020603050405020304" pitchFamily="18" charset="0"/>
                <a:cs typeface="SimSun" panose="02010600030101010101" pitchFamily="2" charset="-122"/>
              </a:rPr>
              <a:t> </a:t>
            </a:r>
            <a:br>
              <a:rPr lang="en-IN" sz="2400" dirty="0">
                <a:effectLst/>
                <a:latin typeface="Calibri" panose="020F0502020204030204" pitchFamily="34" charset="0"/>
                <a:ea typeface="Calibri" panose="020F0502020204030204" pitchFamily="34" charset="0"/>
                <a:cs typeface="SimSun" panose="02010600030101010101" pitchFamily="2" charset="-122"/>
              </a:rPr>
            </a:br>
            <a:r>
              <a:rPr lang="en-US" sz="2400" dirty="0">
                <a:solidFill>
                  <a:srgbClr val="000000"/>
                </a:solidFill>
                <a:effectLst/>
                <a:latin typeface="Mangal" panose="02040503050203030202" pitchFamily="18" charset="0"/>
                <a:ea typeface="Times New Roman" panose="02020603050405020304" pitchFamily="18" charset="0"/>
              </a:rPr>
              <a:t>These services are to be provided in an efficient, cos effective manner, with the goal of reducing the time and resources currently required for such tasks.</a:t>
            </a:r>
            <a:endParaRPr lang="en-IN" sz="6000" dirty="0"/>
          </a:p>
        </p:txBody>
      </p:sp>
      <p:sp>
        <p:nvSpPr>
          <p:cNvPr id="3" name="TextBox 2">
            <a:extLst>
              <a:ext uri="{FF2B5EF4-FFF2-40B4-BE49-F238E27FC236}">
                <a16:creationId xmlns:a16="http://schemas.microsoft.com/office/drawing/2014/main" id="{5511D1D4-791D-1814-C688-7E3EE6B4E9A9}"/>
              </a:ext>
            </a:extLst>
          </p:cNvPr>
          <p:cNvSpPr txBox="1"/>
          <p:nvPr/>
        </p:nvSpPr>
        <p:spPr>
          <a:xfrm>
            <a:off x="2314046" y="419100"/>
            <a:ext cx="7563908" cy="1015663"/>
          </a:xfrm>
          <a:prstGeom prst="rect">
            <a:avLst/>
          </a:prstGeom>
          <a:noFill/>
        </p:spPr>
        <p:txBody>
          <a:bodyPr wrap="square" rtlCol="0">
            <a:spAutoFit/>
          </a:bodyPr>
          <a:lstStyle/>
          <a:p>
            <a:r>
              <a:rPr lang="en-US" sz="6000" b="1" u="sng" dirty="0">
                <a:solidFill>
                  <a:srgbClr val="000000"/>
                </a:solidFill>
                <a:effectLst/>
                <a:ea typeface="Times New Roman" panose="02020603050405020304" pitchFamily="18" charset="0"/>
              </a:rPr>
              <a:t>PROPOSED SYSTEM</a:t>
            </a:r>
            <a:endParaRPr lang="en-IN" sz="6000" u="sng" dirty="0"/>
          </a:p>
        </p:txBody>
      </p:sp>
    </p:spTree>
    <p:extLst>
      <p:ext uri="{BB962C8B-B14F-4D97-AF65-F5344CB8AC3E}">
        <p14:creationId xmlns:p14="http://schemas.microsoft.com/office/powerpoint/2010/main" val="3646623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9E03B-2C0E-DEB7-7523-0B2EDEC4E866}"/>
              </a:ext>
            </a:extLst>
          </p:cNvPr>
          <p:cNvSpPr>
            <a:spLocks noGrp="1"/>
          </p:cNvSpPr>
          <p:nvPr>
            <p:ph type="title"/>
          </p:nvPr>
        </p:nvSpPr>
        <p:spPr>
          <a:xfrm>
            <a:off x="2840397" y="297349"/>
            <a:ext cx="6511205" cy="1499616"/>
          </a:xfrm>
        </p:spPr>
        <p:txBody>
          <a:bodyPr>
            <a:normAutofit/>
          </a:bodyPr>
          <a:lstStyle/>
          <a:p>
            <a:r>
              <a:rPr lang="en-US" sz="6000" b="1" dirty="0">
                <a:solidFill>
                  <a:schemeClr val="tx1"/>
                </a:solidFill>
                <a:effectLst/>
                <a:latin typeface="+mn-lt"/>
                <a:ea typeface="Calibri" panose="020F0502020204030204" pitchFamily="34" charset="0"/>
                <a:cs typeface="SimSun" panose="02010600030101010101" pitchFamily="2" charset="-122"/>
              </a:rPr>
              <a:t>MODULES</a:t>
            </a:r>
            <a:r>
              <a:rPr lang="en-US" sz="6000" b="1" u="sng" dirty="0">
                <a:solidFill>
                  <a:schemeClr val="tx1"/>
                </a:solidFill>
                <a:latin typeface="+mn-lt"/>
                <a:ea typeface="Calibri" panose="020F0502020204030204" pitchFamily="34" charset="0"/>
                <a:cs typeface="SimSun" panose="02010600030101010101" pitchFamily="2" charset="-122"/>
              </a:rPr>
              <a:t> </a:t>
            </a:r>
            <a:r>
              <a:rPr lang="en-US" sz="6000" b="1" dirty="0">
                <a:solidFill>
                  <a:schemeClr val="tx1"/>
                </a:solidFill>
                <a:effectLst/>
                <a:ea typeface="Calibri" panose="020F0502020204030204" pitchFamily="34" charset="0"/>
                <a:cs typeface="SimSun" panose="02010600030101010101" pitchFamily="2" charset="-122"/>
              </a:rPr>
              <a:t>REQUIRED</a:t>
            </a:r>
            <a:br>
              <a:rPr lang="en-IN" sz="5400" dirty="0">
                <a:effectLst/>
                <a:latin typeface="Calibri" panose="020F0502020204030204" pitchFamily="34" charset="0"/>
                <a:ea typeface="Calibri" panose="020F0502020204030204" pitchFamily="34" charset="0"/>
                <a:cs typeface="SimSun" panose="02010600030101010101" pitchFamily="2" charset="-122"/>
              </a:rPr>
            </a:br>
            <a:endParaRPr lang="en-IN" dirty="0"/>
          </a:p>
        </p:txBody>
      </p:sp>
      <p:sp>
        <p:nvSpPr>
          <p:cNvPr id="3" name="TextBox 2">
            <a:extLst>
              <a:ext uri="{FF2B5EF4-FFF2-40B4-BE49-F238E27FC236}">
                <a16:creationId xmlns:a16="http://schemas.microsoft.com/office/drawing/2014/main" id="{5E050A20-FBB5-A09D-D5EC-C0CC48C3C549}"/>
              </a:ext>
            </a:extLst>
          </p:cNvPr>
          <p:cNvSpPr txBox="1"/>
          <p:nvPr/>
        </p:nvSpPr>
        <p:spPr>
          <a:xfrm>
            <a:off x="1117261" y="1219030"/>
            <a:ext cx="10456672" cy="5847755"/>
          </a:xfrm>
          <a:prstGeom prst="rect">
            <a:avLst/>
          </a:prstGeom>
          <a:noFill/>
        </p:spPr>
        <p:txBody>
          <a:bodyPr wrap="square" rtlCol="0">
            <a:spAutoFit/>
          </a:bodyPr>
          <a:lstStyle/>
          <a:p>
            <a:pPr marL="0" marR="0">
              <a:lnSpc>
                <a:spcPct val="200000"/>
              </a:lnSpc>
              <a:spcBef>
                <a:spcPts val="0"/>
              </a:spcBef>
              <a:spcAft>
                <a:spcPts val="800"/>
              </a:spcAft>
            </a:pPr>
            <a:r>
              <a:rPr lang="en-US" sz="2400" dirty="0">
                <a:effectLst/>
                <a:latin typeface="Mangal" panose="02040503050203030202" pitchFamily="18" charset="0"/>
                <a:ea typeface="Calibri" panose="020F0502020204030204" pitchFamily="34" charset="0"/>
                <a:cs typeface="SimSun" panose="02010600030101010101" pitchFamily="2" charset="-122"/>
              </a:rPr>
              <a:t>This module records basic patient related information.</a:t>
            </a:r>
            <a:endParaRPr lang="en-IN" sz="2400" dirty="0">
              <a:effectLst/>
              <a:latin typeface="Calibri" panose="020F0502020204030204" pitchFamily="34" charset="0"/>
              <a:ea typeface="Calibri" panose="020F0502020204030204" pitchFamily="34" charset="0"/>
              <a:cs typeface="SimSun" panose="02010600030101010101" pitchFamily="2" charset="-122"/>
            </a:endParaRPr>
          </a:p>
          <a:p>
            <a:pPr marL="285750" marR="0" lvl="0" indent="-285750" algn="just">
              <a:lnSpc>
                <a:spcPct val="200000"/>
              </a:lnSpc>
              <a:spcBef>
                <a:spcPts val="0"/>
              </a:spcBef>
              <a:spcAft>
                <a:spcPts val="0"/>
              </a:spcAft>
              <a:buFont typeface="Wingdings" panose="05000000000000000000" pitchFamily="2" charset="2"/>
              <a:buChar char="v"/>
            </a:pPr>
            <a:r>
              <a:rPr lang="en-US" sz="2400" b="1" dirty="0">
                <a:effectLst/>
                <a:latin typeface="Mangal" panose="02040503050203030202" pitchFamily="18" charset="0"/>
                <a:ea typeface="Calibri" panose="020F0502020204030204" pitchFamily="34" charset="0"/>
                <a:cs typeface="SimSun" panose="02010600030101010101" pitchFamily="2" charset="-122"/>
              </a:rPr>
              <a:t>Admission Patient Details</a:t>
            </a:r>
            <a:r>
              <a:rPr lang="en-US" sz="2400" dirty="0">
                <a:effectLst/>
                <a:latin typeface="Mangal" panose="02040503050203030202" pitchFamily="18" charset="0"/>
                <a:ea typeface="Calibri" panose="020F0502020204030204" pitchFamily="34" charset="0"/>
                <a:cs typeface="SimSun" panose="02010600030101010101" pitchFamily="2" charset="-122"/>
              </a:rPr>
              <a:t>:</a:t>
            </a:r>
            <a:endParaRPr lang="en-IN" sz="2400" dirty="0">
              <a:effectLst/>
              <a:latin typeface="Calibri" panose="020F0502020204030204" pitchFamily="34" charset="0"/>
              <a:ea typeface="Calibri" panose="020F0502020204030204" pitchFamily="34" charset="0"/>
              <a:cs typeface="SimSun" panose="02010600030101010101" pitchFamily="2" charset="-122"/>
            </a:endParaRPr>
          </a:p>
          <a:p>
            <a:pPr marR="0" lvl="0" algn="just">
              <a:lnSpc>
                <a:spcPct val="200000"/>
              </a:lnSpc>
              <a:spcBef>
                <a:spcPts val="0"/>
              </a:spcBef>
              <a:spcAft>
                <a:spcPts val="0"/>
              </a:spcAft>
            </a:pPr>
            <a:r>
              <a:rPr lang="en-US" sz="2400" dirty="0">
                <a:effectLst/>
                <a:latin typeface="Mangal" panose="02040503050203030202" pitchFamily="18" charset="0"/>
                <a:ea typeface="Calibri" panose="020F0502020204030204" pitchFamily="34" charset="0"/>
                <a:cs typeface="SimSun" panose="02010600030101010101" pitchFamily="2" charset="-122"/>
              </a:rPr>
              <a:t>It keeps track of all details about both in-patient .Patient id, </a:t>
            </a:r>
            <a:r>
              <a:rPr lang="en-US" sz="2400" dirty="0">
                <a:latin typeface="Mangal" panose="02040503050203030202" pitchFamily="18" charset="0"/>
                <a:ea typeface="Calibri" panose="020F0502020204030204" pitchFamily="34" charset="0"/>
                <a:cs typeface="SimSun" panose="02010600030101010101" pitchFamily="2" charset="-122"/>
              </a:rPr>
              <a:t>P</a:t>
            </a:r>
            <a:r>
              <a:rPr lang="en-US" sz="2400" dirty="0">
                <a:effectLst/>
                <a:latin typeface="Mangal" panose="02040503050203030202" pitchFamily="18" charset="0"/>
                <a:ea typeface="Calibri" panose="020F0502020204030204" pitchFamily="34" charset="0"/>
                <a:cs typeface="SimSun" panose="02010600030101010101" pitchFamily="2" charset="-122"/>
              </a:rPr>
              <a:t>atient name, Address, Appointment date, </a:t>
            </a:r>
            <a:r>
              <a:rPr lang="en-US" sz="2400" dirty="0">
                <a:latin typeface="Mangal" panose="02040503050203030202" pitchFamily="18" charset="0"/>
                <a:ea typeface="Calibri" panose="020F0502020204030204" pitchFamily="34" charset="0"/>
                <a:cs typeface="SimSun" panose="02010600030101010101" pitchFamily="2" charset="-122"/>
              </a:rPr>
              <a:t>D</a:t>
            </a:r>
            <a:r>
              <a:rPr lang="en-US" sz="2400" dirty="0">
                <a:effectLst/>
                <a:latin typeface="Mangal" panose="02040503050203030202" pitchFamily="18" charset="0"/>
                <a:ea typeface="Calibri" panose="020F0502020204030204" pitchFamily="34" charset="0"/>
                <a:cs typeface="SimSun" panose="02010600030101010101" pitchFamily="2" charset="-122"/>
              </a:rPr>
              <a:t>octor name, stored for future reference.</a:t>
            </a:r>
            <a:endParaRPr lang="en-IN" sz="2400" dirty="0">
              <a:effectLst/>
              <a:latin typeface="Calibri" panose="020F0502020204030204" pitchFamily="34" charset="0"/>
              <a:ea typeface="Calibri" panose="020F0502020204030204" pitchFamily="34" charset="0"/>
              <a:cs typeface="SimSun" panose="02010600030101010101" pitchFamily="2" charset="-122"/>
            </a:endParaRPr>
          </a:p>
          <a:p>
            <a:pPr marL="342900" marR="0" lvl="0" indent="-342900">
              <a:lnSpc>
                <a:spcPct val="200000"/>
              </a:lnSpc>
              <a:spcBef>
                <a:spcPts val="0"/>
              </a:spcBef>
              <a:spcAft>
                <a:spcPts val="800"/>
              </a:spcAft>
              <a:buFont typeface="Wingdings" panose="05000000000000000000" pitchFamily="2" charset="2"/>
              <a:buChar char=""/>
            </a:pPr>
            <a:r>
              <a:rPr lang="en-US" sz="2400" b="1" dirty="0">
                <a:effectLst/>
                <a:latin typeface="Mangal" panose="02040503050203030202" pitchFamily="18" charset="0"/>
                <a:ea typeface="Calibri" panose="020F0502020204030204" pitchFamily="34" charset="0"/>
                <a:cs typeface="SimSun" panose="02010600030101010101" pitchFamily="2" charset="-122"/>
              </a:rPr>
              <a:t>Billing Details:</a:t>
            </a:r>
            <a:endParaRPr lang="en-IN" sz="2400" dirty="0">
              <a:effectLst/>
              <a:latin typeface="Calibri" panose="020F0502020204030204" pitchFamily="34" charset="0"/>
              <a:ea typeface="Calibri" panose="020F0502020204030204" pitchFamily="34" charset="0"/>
              <a:cs typeface="SimSun" panose="02010600030101010101" pitchFamily="2" charset="-122"/>
            </a:endParaRPr>
          </a:p>
          <a:p>
            <a:pPr marR="0" lvl="0">
              <a:lnSpc>
                <a:spcPct val="200000"/>
              </a:lnSpc>
              <a:spcBef>
                <a:spcPts val="0"/>
              </a:spcBef>
              <a:spcAft>
                <a:spcPts val="800"/>
              </a:spcAft>
            </a:pPr>
            <a:r>
              <a:rPr lang="en-US" sz="2400" dirty="0">
                <a:effectLst/>
                <a:latin typeface="Mangal" panose="02040503050203030202" pitchFamily="18" charset="0"/>
                <a:ea typeface="Calibri" panose="020F0502020204030204" pitchFamily="34" charset="0"/>
                <a:cs typeface="SimSun" panose="02010600030101010101" pitchFamily="2" charset="-122"/>
              </a:rPr>
              <a:t>This module bills the patient  comes to hospital</a:t>
            </a:r>
            <a:r>
              <a:rPr lang="en-US" sz="2000" dirty="0">
                <a:effectLst/>
                <a:latin typeface="Mangal" panose="02040503050203030202" pitchFamily="18" charset="0"/>
                <a:ea typeface="Calibri" panose="020F0502020204030204" pitchFamily="34" charset="0"/>
                <a:cs typeface="SimSun" panose="02010600030101010101" pitchFamily="2" charset="-122"/>
              </a:rPr>
              <a:t>.</a:t>
            </a:r>
            <a:endParaRPr lang="en-IN" sz="2000" dirty="0">
              <a:effectLst/>
              <a:latin typeface="Calibri" panose="020F0502020204030204" pitchFamily="34" charset="0"/>
              <a:ea typeface="Calibri" panose="020F0502020204030204" pitchFamily="34" charset="0"/>
              <a:cs typeface="SimSun" panose="02010600030101010101" pitchFamily="2" charset="-122"/>
            </a:endParaRPr>
          </a:p>
          <a:p>
            <a:endParaRPr lang="en-IN" dirty="0"/>
          </a:p>
        </p:txBody>
      </p:sp>
    </p:spTree>
    <p:extLst>
      <p:ext uri="{BB962C8B-B14F-4D97-AF65-F5344CB8AC3E}">
        <p14:creationId xmlns:p14="http://schemas.microsoft.com/office/powerpoint/2010/main" val="849130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605A4-F357-A4A0-42D6-9BFF8B11D32F}"/>
              </a:ext>
            </a:extLst>
          </p:cNvPr>
          <p:cNvSpPr>
            <a:spLocks noGrp="1"/>
          </p:cNvSpPr>
          <p:nvPr>
            <p:ph type="title"/>
          </p:nvPr>
        </p:nvSpPr>
        <p:spPr>
          <a:xfrm>
            <a:off x="1250592" y="1210965"/>
            <a:ext cx="10821543" cy="4613099"/>
          </a:xfrm>
        </p:spPr>
        <p:txBody>
          <a:bodyPr>
            <a:normAutofit/>
          </a:bodyPr>
          <a:lstStyle/>
          <a:p>
            <a:pPr marL="0" marR="0">
              <a:lnSpc>
                <a:spcPct val="150000"/>
              </a:lnSpc>
              <a:spcBef>
                <a:spcPts val="0"/>
              </a:spcBef>
              <a:spcAft>
                <a:spcPts val="800"/>
              </a:spcAft>
            </a:pPr>
            <a:br>
              <a:rPr lang="en-IN" sz="1800" dirty="0">
                <a:effectLst/>
                <a:latin typeface="Calibri" panose="020F0502020204030204" pitchFamily="34" charset="0"/>
                <a:ea typeface="Calibri" panose="020F0502020204030204" pitchFamily="34" charset="0"/>
                <a:cs typeface="SimSun" panose="02010600030101010101" pitchFamily="2" charset="-122"/>
              </a:rPr>
            </a:br>
            <a:r>
              <a:rPr lang="en-US" sz="2200" b="1" dirty="0">
                <a:solidFill>
                  <a:srgbClr val="FF0000"/>
                </a:solidFill>
                <a:effectLst/>
                <a:latin typeface="Dubai" panose="020B0503030403030204" pitchFamily="34" charset="-78"/>
                <a:ea typeface="Calibri" panose="020F0502020204030204" pitchFamily="34" charset="0"/>
                <a:cs typeface="Dubai" panose="020B0503030403030204" pitchFamily="34" charset="-78"/>
              </a:rPr>
              <a:t>HARDWARE SPECIFICATION</a:t>
            </a:r>
            <a:br>
              <a:rPr lang="en-IN" sz="2000" dirty="0">
                <a:effectLst/>
                <a:latin typeface="Calibri" panose="020F0502020204030204" pitchFamily="34" charset="0"/>
                <a:ea typeface="Calibri" panose="020F0502020204030204" pitchFamily="34" charset="0"/>
                <a:cs typeface="SimSun" panose="02010600030101010101" pitchFamily="2" charset="-122"/>
              </a:rPr>
            </a:br>
            <a:r>
              <a:rPr lang="en-US" sz="2000" dirty="0">
                <a:effectLst/>
                <a:latin typeface="Times New Roman" panose="02020603050405020304" pitchFamily="18" charset="0"/>
                <a:ea typeface="Calibri" panose="020F0502020204030204" pitchFamily="34" charset="0"/>
                <a:cs typeface="SimSun" panose="02010600030101010101" pitchFamily="2" charset="-122"/>
              </a:rPr>
              <a:t>Processor  :     11th Gen Intel(R) Core(TM) i3-1115G4</a:t>
            </a:r>
            <a:br>
              <a:rPr lang="en-IN" sz="2000" dirty="0">
                <a:effectLst/>
                <a:latin typeface="Calibri" panose="020F0502020204030204" pitchFamily="34" charset="0"/>
                <a:ea typeface="Calibri" panose="020F0502020204030204" pitchFamily="34" charset="0"/>
                <a:cs typeface="SimSun" panose="02010600030101010101" pitchFamily="2" charset="-122"/>
              </a:rPr>
            </a:br>
            <a:r>
              <a:rPr lang="en-US" sz="2000" dirty="0">
                <a:effectLst/>
                <a:latin typeface="Times New Roman" panose="02020603050405020304" pitchFamily="18" charset="0"/>
                <a:ea typeface="Calibri" panose="020F0502020204030204" pitchFamily="34" charset="0"/>
                <a:cs typeface="SimSun" panose="02010600030101010101" pitchFamily="2" charset="-122"/>
              </a:rPr>
              <a:t>Ram              :  	8.00GB</a:t>
            </a:r>
            <a:br>
              <a:rPr lang="en-IN" sz="2000" dirty="0">
                <a:effectLst/>
                <a:latin typeface="Calibri" panose="020F0502020204030204" pitchFamily="34" charset="0"/>
                <a:ea typeface="Calibri" panose="020F0502020204030204" pitchFamily="34" charset="0"/>
                <a:cs typeface="SimSun" panose="02010600030101010101" pitchFamily="2" charset="-122"/>
              </a:rPr>
            </a:br>
            <a:r>
              <a:rPr lang="en-US" sz="2000" dirty="0">
                <a:effectLst/>
                <a:latin typeface="Times New Roman" panose="02020603050405020304" pitchFamily="18" charset="0"/>
                <a:ea typeface="Calibri" panose="020F0502020204030204" pitchFamily="34" charset="0"/>
                <a:cs typeface="SimSun" panose="02010600030101010101" pitchFamily="2" charset="-122"/>
              </a:rPr>
              <a:t>Hard Disk   :  	256ssd</a:t>
            </a:r>
            <a:br>
              <a:rPr lang="en-IN" sz="2000" dirty="0">
                <a:effectLst/>
                <a:latin typeface="Calibri" panose="020F0502020204030204" pitchFamily="34" charset="0"/>
                <a:ea typeface="Calibri" panose="020F0502020204030204" pitchFamily="34" charset="0"/>
                <a:cs typeface="SimSun" panose="02010600030101010101" pitchFamily="2" charset="-122"/>
              </a:rPr>
            </a:br>
            <a:r>
              <a:rPr lang="en-US" sz="2200" b="1" dirty="0">
                <a:solidFill>
                  <a:srgbClr val="FF0000"/>
                </a:solidFill>
                <a:effectLst/>
                <a:latin typeface="Dubai" panose="020B0503030403030204" pitchFamily="34" charset="-78"/>
                <a:ea typeface="Calibri" panose="020F0502020204030204" pitchFamily="34" charset="0"/>
                <a:cs typeface="Dubai" panose="020B0503030403030204" pitchFamily="34" charset="-78"/>
              </a:rPr>
              <a:t>SOFTWARE SPECIFICATION</a:t>
            </a:r>
            <a:br>
              <a:rPr lang="en-IN" sz="2000" dirty="0">
                <a:effectLst/>
                <a:latin typeface="Calibri" panose="020F0502020204030204" pitchFamily="34" charset="0"/>
                <a:ea typeface="Calibri" panose="020F0502020204030204" pitchFamily="34" charset="0"/>
                <a:cs typeface="SimSun" panose="02010600030101010101" pitchFamily="2" charset="-122"/>
              </a:rPr>
            </a:br>
            <a:r>
              <a:rPr lang="en-US" sz="2000" dirty="0">
                <a:effectLst/>
                <a:latin typeface="Times New Roman" panose="02020603050405020304" pitchFamily="18" charset="0"/>
                <a:ea typeface="Calibri" panose="020F0502020204030204" pitchFamily="34" charset="0"/>
                <a:cs typeface="SimSun" panose="02010600030101010101" pitchFamily="2" charset="-122"/>
              </a:rPr>
              <a:t>Operating </a:t>
            </a:r>
            <a:r>
              <a:rPr lang="en-US" sz="2000" dirty="0" err="1">
                <a:effectLst/>
                <a:latin typeface="Times New Roman" panose="02020603050405020304" pitchFamily="18" charset="0"/>
                <a:ea typeface="Calibri" panose="020F0502020204030204" pitchFamily="34" charset="0"/>
                <a:cs typeface="SimSun" panose="02010600030101010101" pitchFamily="2" charset="-122"/>
              </a:rPr>
              <a:t>SysteM</a:t>
            </a:r>
            <a:r>
              <a:rPr lang="en-US" sz="2000" dirty="0">
                <a:effectLst/>
                <a:latin typeface="Times New Roman" panose="02020603050405020304" pitchFamily="18" charset="0"/>
                <a:ea typeface="Calibri" panose="020F0502020204030204" pitchFamily="34" charset="0"/>
                <a:cs typeface="SimSun" panose="02010600030101010101" pitchFamily="2" charset="-122"/>
              </a:rPr>
              <a:t>          :: 	Windows 11</a:t>
            </a:r>
            <a:br>
              <a:rPr lang="en-IN" sz="2000" dirty="0">
                <a:effectLst/>
                <a:latin typeface="Calibri" panose="020F0502020204030204" pitchFamily="34" charset="0"/>
                <a:ea typeface="Calibri" panose="020F0502020204030204" pitchFamily="34" charset="0"/>
                <a:cs typeface="SimSun" panose="02010600030101010101" pitchFamily="2" charset="-122"/>
              </a:rPr>
            </a:br>
            <a:r>
              <a:rPr lang="en-US" sz="2000" dirty="0">
                <a:effectLst/>
                <a:latin typeface="Times New Roman" panose="02020603050405020304" pitchFamily="18" charset="0"/>
                <a:ea typeface="Calibri" panose="020F0502020204030204" pitchFamily="34" charset="0"/>
                <a:cs typeface="SimSun" panose="02010600030101010101" pitchFamily="2" charset="-122"/>
              </a:rPr>
              <a:t>Front-End	</a:t>
            </a:r>
            <a:r>
              <a:rPr lang="en-US" sz="2000" dirty="0">
                <a:latin typeface="Times New Roman" panose="02020603050405020304" pitchFamily="18" charset="0"/>
                <a:ea typeface="Calibri" panose="020F0502020204030204" pitchFamily="34" charset="0"/>
                <a:cs typeface="SimSun" panose="02010600030101010101" pitchFamily="2" charset="-122"/>
              </a:rPr>
              <a:t>               </a:t>
            </a:r>
            <a:r>
              <a:rPr lang="en-US" sz="2000" dirty="0">
                <a:effectLst/>
                <a:latin typeface="Times New Roman" panose="02020603050405020304" pitchFamily="18" charset="0"/>
                <a:ea typeface="Calibri" panose="020F0502020204030204" pitchFamily="34" charset="0"/>
                <a:cs typeface="SimSun" panose="02010600030101010101" pitchFamily="2" charset="-122"/>
              </a:rPr>
              <a:t> ::	</a:t>
            </a:r>
            <a:r>
              <a:rPr lang="en-US" sz="2000" dirty="0" err="1">
                <a:effectLst/>
                <a:latin typeface="Times New Roman" panose="02020603050405020304" pitchFamily="18" charset="0"/>
                <a:ea typeface="Calibri" panose="020F0502020204030204" pitchFamily="34" charset="0"/>
                <a:cs typeface="SimSun" panose="02010600030101010101" pitchFamily="2" charset="-122"/>
              </a:rPr>
              <a:t>HTML,CSS,Bootstrap</a:t>
            </a:r>
            <a:r>
              <a:rPr lang="en-US" sz="2000" dirty="0">
                <a:effectLst/>
                <a:latin typeface="Times New Roman" panose="02020603050405020304" pitchFamily="18" charset="0"/>
                <a:ea typeface="Calibri" panose="020F0502020204030204" pitchFamily="34" charset="0"/>
                <a:cs typeface="SimSun" panose="02010600030101010101" pitchFamily="2" charset="-122"/>
              </a:rPr>
              <a:t> </a:t>
            </a:r>
            <a:br>
              <a:rPr lang="en-IN" sz="2000" dirty="0">
                <a:effectLst/>
                <a:latin typeface="Calibri" panose="020F0502020204030204" pitchFamily="34" charset="0"/>
                <a:ea typeface="Calibri" panose="020F0502020204030204" pitchFamily="34" charset="0"/>
                <a:cs typeface="SimSun" panose="02010600030101010101" pitchFamily="2" charset="-122"/>
              </a:rPr>
            </a:br>
            <a:r>
              <a:rPr lang="en-US" sz="2000" dirty="0">
                <a:effectLst/>
                <a:latin typeface="Times New Roman" panose="02020603050405020304" pitchFamily="18" charset="0"/>
                <a:ea typeface="Calibri" panose="020F0502020204030204" pitchFamily="34" charset="0"/>
              </a:rPr>
              <a:t>Back End                           ::           PHP</a:t>
            </a:r>
            <a:endParaRPr lang="en-IN" dirty="0"/>
          </a:p>
        </p:txBody>
      </p:sp>
      <p:sp>
        <p:nvSpPr>
          <p:cNvPr id="3" name="TextBox 2">
            <a:extLst>
              <a:ext uri="{FF2B5EF4-FFF2-40B4-BE49-F238E27FC236}">
                <a16:creationId xmlns:a16="http://schemas.microsoft.com/office/drawing/2014/main" id="{50B6E314-0B02-28F3-31F0-AFEE212144B7}"/>
              </a:ext>
            </a:extLst>
          </p:cNvPr>
          <p:cNvSpPr txBox="1"/>
          <p:nvPr/>
        </p:nvSpPr>
        <p:spPr>
          <a:xfrm>
            <a:off x="1168399" y="379968"/>
            <a:ext cx="9855201" cy="830997"/>
          </a:xfrm>
          <a:prstGeom prst="rect">
            <a:avLst/>
          </a:prstGeom>
          <a:noFill/>
        </p:spPr>
        <p:txBody>
          <a:bodyPr wrap="square" rtlCol="0">
            <a:spAutoFit/>
          </a:bodyPr>
          <a:lstStyle/>
          <a:p>
            <a:r>
              <a:rPr lang="en-US" sz="4800" b="1" dirty="0">
                <a:effectLst/>
                <a:ea typeface="Calibri" panose="020F0502020204030204" pitchFamily="34" charset="0"/>
                <a:cs typeface="SimSun" panose="02010600030101010101" pitchFamily="2" charset="-122"/>
              </a:rPr>
              <a:t>SYSTEM &amp; HARDWERE REQUIRMENTS</a:t>
            </a:r>
            <a:endParaRPr lang="en-IN" sz="4800" dirty="0"/>
          </a:p>
        </p:txBody>
      </p:sp>
    </p:spTree>
    <p:extLst>
      <p:ext uri="{BB962C8B-B14F-4D97-AF65-F5344CB8AC3E}">
        <p14:creationId xmlns:p14="http://schemas.microsoft.com/office/powerpoint/2010/main" val="3736752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35A41-BA1E-6A55-16A3-F5C8B0ADAFF6}"/>
              </a:ext>
            </a:extLst>
          </p:cNvPr>
          <p:cNvSpPr>
            <a:spLocks noGrp="1"/>
          </p:cNvSpPr>
          <p:nvPr>
            <p:ph type="title"/>
          </p:nvPr>
        </p:nvSpPr>
        <p:spPr/>
        <p:txBody>
          <a:bodyPr/>
          <a:lstStyle/>
          <a:p>
            <a:r>
              <a:rPr lang="en-US" dirty="0" err="1"/>
              <a:t>Erd</a:t>
            </a:r>
            <a:r>
              <a:rPr lang="en-US" dirty="0"/>
              <a:t> Diagram</a:t>
            </a:r>
            <a:endParaRPr lang="en-IN" dirty="0"/>
          </a:p>
        </p:txBody>
      </p:sp>
      <p:pic>
        <p:nvPicPr>
          <p:cNvPr id="4" name="Picture 3">
            <a:extLst>
              <a:ext uri="{FF2B5EF4-FFF2-40B4-BE49-F238E27FC236}">
                <a16:creationId xmlns:a16="http://schemas.microsoft.com/office/drawing/2014/main" id="{1D0AF85F-3560-F683-017A-6579F6AD7CAD}"/>
              </a:ext>
            </a:extLst>
          </p:cNvPr>
          <p:cNvPicPr>
            <a:picLocks noChangeAspect="1"/>
          </p:cNvPicPr>
          <p:nvPr/>
        </p:nvPicPr>
        <p:blipFill>
          <a:blip r:embed="rId2"/>
          <a:stretch>
            <a:fillRect/>
          </a:stretch>
        </p:blipFill>
        <p:spPr>
          <a:xfrm>
            <a:off x="4192914" y="847725"/>
            <a:ext cx="7058025" cy="5162550"/>
          </a:xfrm>
          <a:prstGeom prst="rect">
            <a:avLst/>
          </a:prstGeom>
        </p:spPr>
      </p:pic>
    </p:spTree>
    <p:extLst>
      <p:ext uri="{BB962C8B-B14F-4D97-AF65-F5344CB8AC3E}">
        <p14:creationId xmlns:p14="http://schemas.microsoft.com/office/powerpoint/2010/main" val="3348384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C46E-2257-008A-A23B-31543B647CCC}"/>
              </a:ext>
            </a:extLst>
          </p:cNvPr>
          <p:cNvSpPr>
            <a:spLocks noGrp="1"/>
          </p:cNvSpPr>
          <p:nvPr>
            <p:ph type="title"/>
          </p:nvPr>
        </p:nvSpPr>
        <p:spPr/>
        <p:txBody>
          <a:bodyPr/>
          <a:lstStyle/>
          <a:p>
            <a:r>
              <a:rPr kumimoji="0" lang="en-US" altLang="en-US" sz="5400" b="1" i="0" u="none" strike="noStrike" cap="none" normalizeH="0" baseline="0" dirty="0">
                <a:ln>
                  <a:noFill/>
                </a:ln>
                <a:solidFill>
                  <a:srgbClr val="000000"/>
                </a:solidFill>
                <a:effectLst/>
                <a:latin typeface="Cambria" panose="02040503050406030204" pitchFamily="18" charset="0"/>
                <a:ea typeface="Calibri" panose="020F0502020204030204" pitchFamily="34" charset="0"/>
                <a:cs typeface="Mangal" panose="02040503050203030202" pitchFamily="18" charset="0"/>
              </a:rPr>
              <a:t>Context Level Diagram):</a:t>
            </a:r>
            <a:br>
              <a:rPr kumimoji="0" lang="en-US" altLang="en-US" sz="1400" b="0" i="0" u="none" strike="noStrike" cap="none" normalizeH="0" baseline="0" dirty="0">
                <a:ln>
                  <a:noFill/>
                </a:ln>
                <a:solidFill>
                  <a:schemeClr val="tx1"/>
                </a:solidFill>
                <a:effectLst/>
              </a:rPr>
            </a:br>
            <a:endParaRPr lang="en-IN" dirty="0"/>
          </a:p>
        </p:txBody>
      </p:sp>
      <p:pic>
        <p:nvPicPr>
          <p:cNvPr id="2058" name="Picture 28">
            <a:extLst>
              <a:ext uri="{FF2B5EF4-FFF2-40B4-BE49-F238E27FC236}">
                <a16:creationId xmlns:a16="http://schemas.microsoft.com/office/drawing/2014/main" id="{DF877D2D-518C-D78B-00EB-1CA0B6E68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8113" y="3479800"/>
            <a:ext cx="6096000" cy="2565400"/>
          </a:xfrm>
          <a:prstGeom prst="rect">
            <a:avLst/>
          </a:prstGeom>
          <a:noFill/>
          <a:extLst>
            <a:ext uri="{909E8E84-426E-40DD-AFC4-6F175D3DCCD1}">
              <a14:hiddenFill xmlns:a14="http://schemas.microsoft.com/office/drawing/2010/main">
                <a:solidFill>
                  <a:srgbClr val="FFFFFF"/>
                </a:solidFill>
              </a14:hiddenFill>
            </a:ext>
          </a:extLst>
        </p:spPr>
      </p:pic>
      <p:sp>
        <p:nvSpPr>
          <p:cNvPr id="3" name="Ink 30">
            <a:extLst>
              <a:ext uri="{FF2B5EF4-FFF2-40B4-BE49-F238E27FC236}">
                <a16:creationId xmlns:a16="http://schemas.microsoft.com/office/drawing/2014/main" id="{E39B481A-E880-E6EA-7F03-6905CD876C6D}"/>
              </a:ext>
            </a:extLst>
          </p:cNvPr>
          <p:cNvSpPr>
            <a:spLocks noRot="1" noChangeAspect="1" noEditPoints="1" noChangeArrowheads="1" noChangeShapeType="1" noTextEdit="1"/>
          </p:cNvSpPr>
          <p:nvPr/>
        </p:nvSpPr>
        <p:spPr bwMode="auto">
          <a:xfrm>
            <a:off x="2119313" y="457200"/>
            <a:ext cx="1117600" cy="514350"/>
          </a:xfrm>
          <a:prstGeom prst="rect">
            <a:avLst/>
          </a:prstGeom>
          <a:noFill/>
          <a:ln w="216000" cap="sq" algn="ctr">
            <a:solidFill>
              <a:srgbClr val="FFFFFF">
                <a:alpha val="33333"/>
              </a:srgbClr>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Ink 31">
            <a:extLst>
              <a:ext uri="{FF2B5EF4-FFF2-40B4-BE49-F238E27FC236}">
                <a16:creationId xmlns:a16="http://schemas.microsoft.com/office/drawing/2014/main" id="{ED62BC39-CF48-DBB9-7D22-42A8818121E2}"/>
              </a:ext>
            </a:extLst>
          </p:cNvPr>
          <p:cNvSpPr>
            <a:spLocks noRot="1" noChangeAspect="1" noEditPoints="1" noChangeArrowheads="1" noChangeShapeType="1" noTextEdit="1"/>
          </p:cNvSpPr>
          <p:nvPr/>
        </p:nvSpPr>
        <p:spPr bwMode="auto">
          <a:xfrm>
            <a:off x="-12160250" y="457200"/>
            <a:ext cx="32575500" cy="129921000"/>
          </a:xfrm>
          <a:prstGeom prst="rect">
            <a:avLst/>
          </a:prstGeom>
          <a:noFill/>
          <a:ln w="216000" cap="sq" algn="ctr">
            <a:solidFill>
              <a:srgbClr val="FFFFFF">
                <a:alpha val="33333"/>
              </a:srgbClr>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Ink 32">
            <a:extLst>
              <a:ext uri="{FF2B5EF4-FFF2-40B4-BE49-F238E27FC236}">
                <a16:creationId xmlns:a16="http://schemas.microsoft.com/office/drawing/2014/main" id="{71E2343D-0FD1-FBAE-FEA5-AE3E574A6C30}"/>
              </a:ext>
            </a:extLst>
          </p:cNvPr>
          <p:cNvSpPr>
            <a:spLocks noRot="1" noChangeAspect="1" noEditPoints="1" noChangeArrowheads="1" noChangeShapeType="1" noTextEdit="1"/>
          </p:cNvSpPr>
          <p:nvPr/>
        </p:nvSpPr>
        <p:spPr bwMode="auto">
          <a:xfrm>
            <a:off x="2119313" y="457200"/>
            <a:ext cx="1266825" cy="788988"/>
          </a:xfrm>
          <a:prstGeom prst="rect">
            <a:avLst/>
          </a:prstGeom>
          <a:noFill/>
          <a:ln w="216000" cap="sq" algn="ctr">
            <a:solidFill>
              <a:srgbClr val="FFFFFF">
                <a:alpha val="33333"/>
              </a:srgbClr>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Ink 33">
            <a:extLst>
              <a:ext uri="{FF2B5EF4-FFF2-40B4-BE49-F238E27FC236}">
                <a16:creationId xmlns:a16="http://schemas.microsoft.com/office/drawing/2014/main" id="{854C7F75-A9E3-3186-40CC-FAF39B0414AF}"/>
              </a:ext>
            </a:extLst>
          </p:cNvPr>
          <p:cNvSpPr>
            <a:spLocks noRot="1" noChangeAspect="1" noEditPoints="1" noChangeArrowheads="1" noChangeShapeType="1" noTextEdit="1"/>
          </p:cNvSpPr>
          <p:nvPr/>
        </p:nvSpPr>
        <p:spPr bwMode="auto">
          <a:xfrm>
            <a:off x="-13192125" y="457200"/>
            <a:ext cx="32575500" cy="129921000"/>
          </a:xfrm>
          <a:prstGeom prst="rect">
            <a:avLst/>
          </a:prstGeom>
          <a:noFill/>
          <a:ln w="216000" cap="sq" algn="ctr">
            <a:solidFill>
              <a:srgbClr val="FFFFFF">
                <a:alpha val="33333"/>
              </a:srgbClr>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Ink 34">
            <a:extLst>
              <a:ext uri="{FF2B5EF4-FFF2-40B4-BE49-F238E27FC236}">
                <a16:creationId xmlns:a16="http://schemas.microsoft.com/office/drawing/2014/main" id="{56009E79-432E-7CC8-9EE9-C7E17A328CE8}"/>
              </a:ext>
            </a:extLst>
          </p:cNvPr>
          <p:cNvSpPr>
            <a:spLocks noRot="1" noChangeAspect="1" noEditPoints="1" noChangeArrowheads="1" noChangeShapeType="1" noTextEdit="1"/>
          </p:cNvSpPr>
          <p:nvPr/>
        </p:nvSpPr>
        <p:spPr bwMode="auto">
          <a:xfrm>
            <a:off x="-13192125" y="457200"/>
            <a:ext cx="32575500" cy="129921000"/>
          </a:xfrm>
          <a:prstGeom prst="rect">
            <a:avLst/>
          </a:prstGeom>
          <a:noFill/>
          <a:ln w="216000" cap="sq" algn="ctr">
            <a:solidFill>
              <a:srgbClr val="FFFFFF">
                <a:alpha val="33333"/>
              </a:srgbClr>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Ink 35">
            <a:extLst>
              <a:ext uri="{FF2B5EF4-FFF2-40B4-BE49-F238E27FC236}">
                <a16:creationId xmlns:a16="http://schemas.microsoft.com/office/drawing/2014/main" id="{5F4698BF-BFCB-99CF-4245-68928593EE82}"/>
              </a:ext>
            </a:extLst>
          </p:cNvPr>
          <p:cNvSpPr>
            <a:spLocks noRot="1" noChangeAspect="1" noEditPoints="1" noChangeArrowheads="1" noChangeShapeType="1" noTextEdit="1"/>
          </p:cNvSpPr>
          <p:nvPr/>
        </p:nvSpPr>
        <p:spPr bwMode="auto">
          <a:xfrm>
            <a:off x="3041650" y="457200"/>
            <a:ext cx="506413" cy="679450"/>
          </a:xfrm>
          <a:prstGeom prst="rect">
            <a:avLst/>
          </a:prstGeom>
          <a:noFill/>
          <a:ln w="216000" cap="sq" algn="ctr">
            <a:solidFill>
              <a:srgbClr val="FFFFFF">
                <a:alpha val="33333"/>
              </a:srgbClr>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Ink 36">
            <a:extLst>
              <a:ext uri="{FF2B5EF4-FFF2-40B4-BE49-F238E27FC236}">
                <a16:creationId xmlns:a16="http://schemas.microsoft.com/office/drawing/2014/main" id="{EA6B7DD0-B0CE-3887-69B0-7060B3E36356}"/>
              </a:ext>
            </a:extLst>
          </p:cNvPr>
          <p:cNvSpPr>
            <a:spLocks noRot="1" noChangeAspect="1" noEditPoints="1" noChangeArrowheads="1" noChangeShapeType="1" noTextEdit="1"/>
          </p:cNvSpPr>
          <p:nvPr/>
        </p:nvSpPr>
        <p:spPr bwMode="auto">
          <a:xfrm>
            <a:off x="-13192125" y="457200"/>
            <a:ext cx="32575501" cy="130625850"/>
          </a:xfrm>
          <a:prstGeom prst="rect">
            <a:avLst/>
          </a:prstGeom>
          <a:noFill/>
          <a:ln w="216000" cap="sq" algn="ctr">
            <a:solidFill>
              <a:srgbClr val="FFFFFF">
                <a:alpha val="33333"/>
              </a:srgbClr>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Rectangle 12">
            <a:extLst>
              <a:ext uri="{FF2B5EF4-FFF2-40B4-BE49-F238E27FC236}">
                <a16:creationId xmlns:a16="http://schemas.microsoft.com/office/drawing/2014/main" id="{9B3B4DE0-C5E4-60F7-B121-0D01483C519C}"/>
              </a:ext>
            </a:extLst>
          </p:cNvPr>
          <p:cNvSpPr>
            <a:spLocks noChangeArrowheads="1"/>
          </p:cNvSpPr>
          <p:nvPr/>
        </p:nvSpPr>
        <p:spPr bwMode="auto">
          <a:xfrm>
            <a:off x="0" y="30226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521302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1CCFE-3C15-C077-42A9-B81D4D7B4C48}"/>
              </a:ext>
            </a:extLst>
          </p:cNvPr>
          <p:cNvSpPr>
            <a:spLocks noGrp="1"/>
          </p:cNvSpPr>
          <p:nvPr>
            <p:ph type="title"/>
          </p:nvPr>
        </p:nvSpPr>
        <p:spPr/>
        <p:txBody>
          <a:bodyPr/>
          <a:lstStyle/>
          <a:p>
            <a:r>
              <a:rPr lang="en-IN" sz="4000" b="1" dirty="0">
                <a:solidFill>
                  <a:srgbClr val="000000"/>
                </a:solidFill>
                <a:effectLst/>
                <a:latin typeface="Cambria" panose="02040503050406030204" pitchFamily="18" charset="0"/>
                <a:ea typeface="Calibri" panose="020F0502020204030204" pitchFamily="34" charset="0"/>
                <a:cs typeface="Mangal" panose="02040503050203030202" pitchFamily="18" charset="0"/>
              </a:rPr>
              <a:t>DFD Diagram</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pic>
        <p:nvPicPr>
          <p:cNvPr id="4" name="Picture 3">
            <a:extLst>
              <a:ext uri="{FF2B5EF4-FFF2-40B4-BE49-F238E27FC236}">
                <a16:creationId xmlns:a16="http://schemas.microsoft.com/office/drawing/2014/main" id="{F850EF69-72AF-B4DA-3B1A-0146809A3DBE}"/>
              </a:ext>
            </a:extLst>
          </p:cNvPr>
          <p:cNvPicPr>
            <a:picLocks noChangeAspect="1"/>
          </p:cNvPicPr>
          <p:nvPr/>
        </p:nvPicPr>
        <p:blipFill>
          <a:blip r:embed="rId2"/>
          <a:stretch>
            <a:fillRect/>
          </a:stretch>
        </p:blipFill>
        <p:spPr>
          <a:xfrm>
            <a:off x="2698513" y="1609725"/>
            <a:ext cx="6694155" cy="4663059"/>
          </a:xfrm>
          <a:prstGeom prst="rect">
            <a:avLst/>
          </a:prstGeom>
        </p:spPr>
      </p:pic>
    </p:spTree>
    <p:extLst>
      <p:ext uri="{BB962C8B-B14F-4D97-AF65-F5344CB8AC3E}">
        <p14:creationId xmlns:p14="http://schemas.microsoft.com/office/powerpoint/2010/main" val="1483987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625F-8509-6581-5AA6-02C07BA80C27}"/>
              </a:ext>
            </a:extLst>
          </p:cNvPr>
          <p:cNvSpPr>
            <a:spLocks noGrp="1"/>
          </p:cNvSpPr>
          <p:nvPr>
            <p:ph type="title"/>
          </p:nvPr>
        </p:nvSpPr>
        <p:spPr>
          <a:xfrm>
            <a:off x="1024128" y="585216"/>
            <a:ext cx="1933081" cy="1499616"/>
          </a:xfrm>
        </p:spPr>
        <p:txBody>
          <a:bodyPr>
            <a:normAutofit/>
          </a:bodyPr>
          <a:lstStyle/>
          <a:p>
            <a:r>
              <a:rPr lang="en-IN" sz="2800" b="1" dirty="0">
                <a:effectLst/>
                <a:latin typeface="Calibri" panose="020F0502020204030204" pitchFamily="34" charset="0"/>
                <a:ea typeface="Calibri" panose="020F0502020204030204" pitchFamily="34" charset="0"/>
              </a:rPr>
              <a:t>Use case diagram</a:t>
            </a:r>
            <a:endParaRPr lang="en-IN" sz="6600" dirty="0"/>
          </a:p>
        </p:txBody>
      </p:sp>
      <p:pic>
        <p:nvPicPr>
          <p:cNvPr id="22" name="Picture 21">
            <a:extLst>
              <a:ext uri="{FF2B5EF4-FFF2-40B4-BE49-F238E27FC236}">
                <a16:creationId xmlns:a16="http://schemas.microsoft.com/office/drawing/2014/main" id="{55C8DF4E-03D9-A403-7E01-D0535D96FF75}"/>
              </a:ext>
            </a:extLst>
          </p:cNvPr>
          <p:cNvPicPr>
            <a:picLocks noChangeAspect="1"/>
          </p:cNvPicPr>
          <p:nvPr/>
        </p:nvPicPr>
        <p:blipFill rotWithShape="1">
          <a:blip r:embed="rId2"/>
          <a:srcRect l="65303" t="29000" r="4373" b="14968"/>
          <a:stretch/>
        </p:blipFill>
        <p:spPr>
          <a:xfrm>
            <a:off x="3647729" y="636096"/>
            <a:ext cx="5588739" cy="5585808"/>
          </a:xfrm>
          <a:prstGeom prst="rect">
            <a:avLst/>
          </a:prstGeom>
        </p:spPr>
      </p:pic>
    </p:spTree>
    <p:extLst>
      <p:ext uri="{BB962C8B-B14F-4D97-AF65-F5344CB8AC3E}">
        <p14:creationId xmlns:p14="http://schemas.microsoft.com/office/powerpoint/2010/main" val="511155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8543B1-DFE9-045B-2585-C83A76CE89CC}"/>
              </a:ext>
            </a:extLst>
          </p:cNvPr>
          <p:cNvSpPr txBox="1"/>
          <p:nvPr/>
        </p:nvSpPr>
        <p:spPr>
          <a:xfrm>
            <a:off x="1489753" y="739739"/>
            <a:ext cx="2034283" cy="1354217"/>
          </a:xfrm>
          <a:prstGeom prst="rect">
            <a:avLst/>
          </a:prstGeom>
          <a:noFill/>
        </p:spPr>
        <p:txBody>
          <a:bodyPr wrap="square" rtlCol="0">
            <a:spAutoFit/>
          </a:bodyPr>
          <a:lstStyle/>
          <a:p>
            <a:r>
              <a:rPr lang="en-IN" sz="3200" b="1" dirty="0">
                <a:solidFill>
                  <a:srgbClr val="000000"/>
                </a:solidFill>
                <a:effectLst/>
                <a:latin typeface="Cambria" panose="02040503050406030204" pitchFamily="18" charset="0"/>
                <a:ea typeface="Calibri" panose="020F0502020204030204" pitchFamily="34" charset="0"/>
                <a:cs typeface="Mangal" panose="02040503050203030202" pitchFamily="18" charset="0"/>
              </a:rPr>
              <a:t>Activity Diagram</a:t>
            </a:r>
            <a:r>
              <a:rPr lang="en-IN" sz="1800" b="1" dirty="0">
                <a:solidFill>
                  <a:srgbClr val="000000"/>
                </a:solidFill>
                <a:effectLst/>
                <a:latin typeface="Cambria" panose="020405030504060302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
        <p:nvSpPr>
          <p:cNvPr id="3" name="TextBox 2">
            <a:extLst>
              <a:ext uri="{FF2B5EF4-FFF2-40B4-BE49-F238E27FC236}">
                <a16:creationId xmlns:a16="http://schemas.microsoft.com/office/drawing/2014/main" id="{B1312E1E-9E5F-65F8-40BE-85270C330A60}"/>
              </a:ext>
            </a:extLst>
          </p:cNvPr>
          <p:cNvSpPr txBox="1"/>
          <p:nvPr/>
        </p:nvSpPr>
        <p:spPr>
          <a:xfrm>
            <a:off x="4726112" y="339047"/>
            <a:ext cx="5845996" cy="6349429"/>
          </a:xfrm>
          <a:prstGeom prst="rect">
            <a:avLst/>
          </a:prstGeom>
          <a:noFill/>
        </p:spPr>
        <p:txBody>
          <a:bodyPr wrap="square" rtlCol="0">
            <a:spAutoFit/>
          </a:bodyPr>
          <a:lstStyle/>
          <a:p>
            <a:endParaRPr lang="en-IN" dirty="0"/>
          </a:p>
        </p:txBody>
      </p:sp>
      <p:pic>
        <p:nvPicPr>
          <p:cNvPr id="21" name="Picture 20">
            <a:extLst>
              <a:ext uri="{FF2B5EF4-FFF2-40B4-BE49-F238E27FC236}">
                <a16:creationId xmlns:a16="http://schemas.microsoft.com/office/drawing/2014/main" id="{DE2F2A84-11E9-6D67-7351-F0F81FFA593F}"/>
              </a:ext>
            </a:extLst>
          </p:cNvPr>
          <p:cNvPicPr>
            <a:picLocks noChangeAspect="1"/>
          </p:cNvPicPr>
          <p:nvPr/>
        </p:nvPicPr>
        <p:blipFill rotWithShape="1">
          <a:blip r:embed="rId2"/>
          <a:srcRect l="4971" t="38162" r="74804" b="7985"/>
          <a:stretch/>
        </p:blipFill>
        <p:spPr>
          <a:xfrm>
            <a:off x="4726112" y="710912"/>
            <a:ext cx="3888769" cy="5436175"/>
          </a:xfrm>
          <a:prstGeom prst="rect">
            <a:avLst/>
          </a:prstGeom>
        </p:spPr>
      </p:pic>
    </p:spTree>
    <p:extLst>
      <p:ext uri="{BB962C8B-B14F-4D97-AF65-F5344CB8AC3E}">
        <p14:creationId xmlns:p14="http://schemas.microsoft.com/office/powerpoint/2010/main" val="3617368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3DD887-0377-D9B3-58C2-A7672F312236}"/>
              </a:ext>
            </a:extLst>
          </p:cNvPr>
          <p:cNvPicPr>
            <a:picLocks noChangeAspect="1"/>
          </p:cNvPicPr>
          <p:nvPr/>
        </p:nvPicPr>
        <p:blipFill rotWithShape="1">
          <a:blip r:embed="rId2"/>
          <a:srcRect l="34635" t="25161" r="35786" b="16733"/>
          <a:stretch/>
        </p:blipFill>
        <p:spPr>
          <a:xfrm>
            <a:off x="3174715" y="573341"/>
            <a:ext cx="5537770" cy="5711317"/>
          </a:xfrm>
          <a:prstGeom prst="rect">
            <a:avLst/>
          </a:prstGeom>
        </p:spPr>
      </p:pic>
    </p:spTree>
    <p:extLst>
      <p:ext uri="{BB962C8B-B14F-4D97-AF65-F5344CB8AC3E}">
        <p14:creationId xmlns:p14="http://schemas.microsoft.com/office/powerpoint/2010/main" val="3635402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9B127B-836A-AF75-29D9-0C25330BEB56}"/>
              </a:ext>
            </a:extLst>
          </p:cNvPr>
          <p:cNvPicPr>
            <a:picLocks noChangeAspect="1"/>
          </p:cNvPicPr>
          <p:nvPr/>
        </p:nvPicPr>
        <p:blipFill rotWithShape="1">
          <a:blip r:embed="rId2"/>
          <a:srcRect l="66911" t="27247" r="5028" b="12881"/>
          <a:stretch/>
        </p:blipFill>
        <p:spPr>
          <a:xfrm>
            <a:off x="3750068" y="632485"/>
            <a:ext cx="4993240" cy="5593030"/>
          </a:xfrm>
          <a:prstGeom prst="rect">
            <a:avLst/>
          </a:prstGeom>
        </p:spPr>
      </p:pic>
    </p:spTree>
    <p:extLst>
      <p:ext uri="{BB962C8B-B14F-4D97-AF65-F5344CB8AC3E}">
        <p14:creationId xmlns:p14="http://schemas.microsoft.com/office/powerpoint/2010/main" val="481135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2EF65E-26BD-3FE6-0C56-BB0907BD9216}"/>
              </a:ext>
            </a:extLst>
          </p:cNvPr>
          <p:cNvPicPr>
            <a:picLocks noChangeAspect="1"/>
          </p:cNvPicPr>
          <p:nvPr/>
        </p:nvPicPr>
        <p:blipFill rotWithShape="1">
          <a:blip r:embed="rId2"/>
          <a:srcRect l="3793" t="24198" r="68146" b="17055"/>
          <a:stretch/>
        </p:blipFill>
        <p:spPr>
          <a:xfrm>
            <a:off x="3893904" y="786598"/>
            <a:ext cx="4808307" cy="5284804"/>
          </a:xfrm>
          <a:prstGeom prst="rect">
            <a:avLst/>
          </a:prstGeom>
        </p:spPr>
      </p:pic>
    </p:spTree>
    <p:extLst>
      <p:ext uri="{BB962C8B-B14F-4D97-AF65-F5344CB8AC3E}">
        <p14:creationId xmlns:p14="http://schemas.microsoft.com/office/powerpoint/2010/main" val="1154960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AEC435-38EF-14B0-FECC-58727197A826}"/>
              </a:ext>
            </a:extLst>
          </p:cNvPr>
          <p:cNvPicPr>
            <a:picLocks noChangeAspect="1"/>
          </p:cNvPicPr>
          <p:nvPr/>
        </p:nvPicPr>
        <p:blipFill rotWithShape="1">
          <a:blip r:embed="rId2"/>
          <a:srcRect l="35477" t="24358" r="37051" b="15770"/>
          <a:stretch/>
        </p:blipFill>
        <p:spPr>
          <a:xfrm>
            <a:off x="3856234" y="784034"/>
            <a:ext cx="4623371" cy="5289931"/>
          </a:xfrm>
          <a:prstGeom prst="rect">
            <a:avLst/>
          </a:prstGeom>
        </p:spPr>
      </p:pic>
    </p:spTree>
    <p:extLst>
      <p:ext uri="{BB962C8B-B14F-4D97-AF65-F5344CB8AC3E}">
        <p14:creationId xmlns:p14="http://schemas.microsoft.com/office/powerpoint/2010/main" val="2001829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A640D88-C7F5-2308-249D-B8816BEBF24D}"/>
              </a:ext>
            </a:extLst>
          </p:cNvPr>
          <p:cNvSpPr>
            <a:spLocks noGrp="1"/>
          </p:cNvSpPr>
          <p:nvPr>
            <p:ph type="body" idx="1"/>
          </p:nvPr>
        </p:nvSpPr>
        <p:spPr>
          <a:xfrm>
            <a:off x="2702960" y="901844"/>
            <a:ext cx="6595152" cy="4029751"/>
          </a:xfrm>
        </p:spPr>
        <p:txBody>
          <a:bodyPr>
            <a:normAutofit lnSpcReduction="10000"/>
          </a:bodyPr>
          <a:lstStyle/>
          <a:p>
            <a:pPr algn="ctr"/>
            <a:r>
              <a:rPr lang="en-US" sz="13800" dirty="0"/>
              <a:t>THANK YOU</a:t>
            </a:r>
            <a:endParaRPr lang="en-IN" sz="13800" dirty="0"/>
          </a:p>
        </p:txBody>
      </p:sp>
    </p:spTree>
    <p:extLst>
      <p:ext uri="{BB962C8B-B14F-4D97-AF65-F5344CB8AC3E}">
        <p14:creationId xmlns:p14="http://schemas.microsoft.com/office/powerpoint/2010/main" val="15190263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docProps/app.xml><?xml version="1.0" encoding="utf-8"?>
<Properties xmlns="http://schemas.openxmlformats.org/officeDocument/2006/extended-properties" xmlns:vt="http://schemas.openxmlformats.org/officeDocument/2006/docPropsVTypes">
  <Template>Integral</Template>
  <TotalTime>384</TotalTime>
  <Words>526</Words>
  <Application>Microsoft Office PowerPoint</Application>
  <PresentationFormat>Widescreen</PresentationFormat>
  <Paragraphs>33</Paragraphs>
  <Slides>18</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18</vt:i4>
      </vt:variant>
    </vt:vector>
  </HeadingPairs>
  <TitlesOfParts>
    <vt:vector size="35" baseType="lpstr">
      <vt:lpstr>Malgun Gothic</vt:lpstr>
      <vt:lpstr>Aparajita</vt:lpstr>
      <vt:lpstr>Arial</vt:lpstr>
      <vt:lpstr>Arial Black</vt:lpstr>
      <vt:lpstr>Bahnschrift</vt:lpstr>
      <vt:lpstr>Calibri</vt:lpstr>
      <vt:lpstr>Cambria</vt:lpstr>
      <vt:lpstr>Candara Light</vt:lpstr>
      <vt:lpstr>Dubai</vt:lpstr>
      <vt:lpstr>Lucida Sans</vt:lpstr>
      <vt:lpstr>Mangal</vt:lpstr>
      <vt:lpstr>Times New Roman</vt:lpstr>
      <vt:lpstr>Tw Cen MT</vt:lpstr>
      <vt:lpstr>Tw Cen MT Condensed</vt:lpstr>
      <vt:lpstr>Wingdings</vt:lpstr>
      <vt:lpstr>Wingdings 3</vt:lpstr>
      <vt:lpstr>Integral</vt:lpstr>
      <vt:lpstr>welcome</vt:lpstr>
      <vt:lpstr>Project name</vt:lpstr>
      <vt:lpstr>INTRODUCTION </vt:lpstr>
      <vt:lpstr>    scope  </vt:lpstr>
      <vt:lpstr>Hospital currently use a manual system for the management and maintenance of critical information. The current system requires numerous paper forms, with data stores spread throughout the hospital management infrastructure. Often information (on forms) is in complete, or does not follow management standards. Forms are often lost in transit between departments requiring a comprehensive auditing process to ensure that no vital information is lost. Multiple copies of the same information exist in the hospital and may lead to inconsistencies in data in various data stores </vt:lpstr>
      <vt:lpstr>The Hospital Management System is designed for Any Hospital to replace their existing manual, paper based system. The new system. The new system is to control the following information; patient information, room availability, staff and operating room schedules, and patient invoices.   These services are to be provided in an efficient, cos effective manner, with the goal of reducing the time and resources currently required for such tasks.</vt:lpstr>
      <vt:lpstr>MODULES REQUIRED </vt:lpstr>
      <vt:lpstr> HARDWARE SPECIFICATION Processor  :     11th Gen Intel(R) Core(TM) i3-1115G4 Ram              :   8.00GB Hard Disk   :   256ssd SOFTWARE SPECIFICATION Operating SysteM          ::  Windows 11 Front-End                 :: HTML,CSS,Bootstrap  Back End                           ::           PHP</vt:lpstr>
      <vt:lpstr>Erd Diagram</vt:lpstr>
      <vt:lpstr>Context Level Diagram): </vt:lpstr>
      <vt:lpstr>DFD Diagram </vt:lpstr>
      <vt:lpstr>Use case diagram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dc:creator>rohan londhe</dc:creator>
  <cp:lastModifiedBy>rohan londhe</cp:lastModifiedBy>
  <cp:revision>3</cp:revision>
  <dcterms:created xsi:type="dcterms:W3CDTF">2023-03-12T06:26:16Z</dcterms:created>
  <dcterms:modified xsi:type="dcterms:W3CDTF">2023-03-16T05:58:15Z</dcterms:modified>
</cp:coreProperties>
</file>